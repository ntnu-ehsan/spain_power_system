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64008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24528"/>
            <a:ext cx="12191695" cy="2633472"/>
          </a:xfrm>
          <a:prstGeom prst="rect">
            <a:avLst/>
          </a:prstGeom>
          <a:solidFill>
            <a:srgbClr val="0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D65A2E"/>
                </a:solidFill>
                <a:latin typeface="Calibri"/>
              </a:rPr>
              <a:t>SHORT-TERM ELECTRICITY MARKET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5000" b="1" i="0">
                <a:solidFill>
                  <a:srgbClr val="FFFFFF"/>
                </a:solidFill>
                <a:latin typeface="Calibri"/>
              </a:rPr>
              <a:t>The Spanish Power System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200" b="0" i="1">
                <a:solidFill>
                  <a:srgbClr val="C7D4E0"/>
                </a:solidFill>
                <a:latin typeface="Calibri"/>
              </a:rPr>
              <a:t>A multi-stage market chain feeding an AC optimal power flow redispatch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Model  ·  Case study  ·  Results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0" i="0">
                <a:solidFill>
                  <a:srgbClr val="AEB9C4"/>
                </a:solidFill>
                <a:latin typeface="Calibri"/>
              </a:rPr>
              <a:t>Peninsular transmission grid — 1,236 buses · 2,345 branches · 2,035 generating units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0" i="0">
                <a:solidFill>
                  <a:srgbClr val="AEB9C4"/>
                </a:solidFill>
                <a:latin typeface="Calibri"/>
              </a:rPr>
              <a:t>Two representative days: 8 July 2024 (summer) and 2 December 2024 (winter)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98A6"/>
                </a:solidFill>
                <a:latin typeface="Calibri"/>
              </a:rPr>
              <a:t>Generated from results_plots.ipynb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this deck covers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02920" cy="777240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02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435608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102A43"/>
                </a:solidFill>
                <a:latin typeface="Calibri"/>
              </a:rPr>
              <a:t>The model — a multi-stage short-term market chain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i="0">
                <a:solidFill>
                  <a:srgbClr val="5A6673"/>
                </a:solidFill>
                <a:latin typeface="Calibri"/>
              </a:rPr>
              <a:t>Day-ahead → three intraday gates → balancing → AC OPF redispatch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31720"/>
            <a:ext cx="502920" cy="777240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502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350008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102A43"/>
                </a:solidFill>
                <a:latin typeface="Calibri"/>
              </a:rPr>
              <a:t>The case — the Spanish peninsular grid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i="0">
                <a:solidFill>
                  <a:srgbClr val="5A6673"/>
                </a:solidFill>
                <a:latin typeface="Calibri"/>
              </a:rPr>
              <a:t>Full transmission network, two contrasting demand days, cross-border 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46120"/>
            <a:ext cx="502920" cy="777240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46120"/>
            <a:ext cx="502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264408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102A43"/>
                </a:solidFill>
                <a:latin typeface="Calibri"/>
              </a:rPr>
              <a:t>Methodology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i="0">
                <a:solidFill>
                  <a:srgbClr val="5A6673"/>
                </a:solidFill>
                <a:latin typeface="Calibri"/>
              </a:rPr>
              <a:t>Copper-plate economic dispatch, Bellman-coupled hydro, AC redispatch with reactive realism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160520"/>
            <a:ext cx="502920" cy="777240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60520"/>
            <a:ext cx="502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178808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102A43"/>
                </a:solidFill>
                <a:latin typeface="Calibri"/>
              </a:rPr>
              <a:t>Dispatch results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i="0">
                <a:solidFill>
                  <a:srgbClr val="5A6673"/>
                </a:solidFill>
                <a:latin typeface="Calibri"/>
              </a:rPr>
              <a:t>Fuel mix, merit order, capacity utilisation, hourly profiles, system prices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074920"/>
            <a:ext cx="502920" cy="777240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502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093208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102A43"/>
                </a:solidFill>
                <a:latin typeface="Calibri"/>
              </a:rPr>
              <a:t>Network &amp; reactive results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i="0">
                <a:solidFill>
                  <a:srgbClr val="5A6673"/>
                </a:solidFill>
                <a:latin typeface="Calibri"/>
              </a:rPr>
              <a:t>Branch loading &amp; congestion, voltage profile, reactive procurement, feasibility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651760"/>
            <a:ext cx="1463040" cy="91440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D65A2E"/>
                </a:solidFill>
                <a:latin typeface="Calibri"/>
              </a:rPr>
              <a:t>PART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1">
                <a:solidFill>
                  <a:srgbClr val="B6C4D2"/>
                </a:solidFill>
                <a:latin typeface="Calibri"/>
              </a:rPr>
              <a:t>A multi-stage representation of the short-term electricity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MODEL ·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A market chain, not a single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Real electricity markets clear in sequential stages. The model reproduces that chain: a day-ahead schedule is progressively revised by intraday gates and a balancing market, then made physically feasible on the AC network by a redispatch step.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700784" cy="1371600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700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DAY-AHEAD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9504"/>
            <a:ext cx="170078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Copper-plate
economic dispatch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62556" y="2807207"/>
            <a:ext cx="192024" cy="329184"/>
          </a:xfrm>
          <a:prstGeom prst="rightArrow">
            <a:avLst/>
          </a:prstGeom>
          <a:solidFill>
            <a:srgbClr val="5A6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59152" y="2286000"/>
            <a:ext cx="1700784" cy="13716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59152" y="2468880"/>
            <a:ext cx="1700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ID2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2889504"/>
            <a:ext cx="170078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Intraday
gate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64508" y="2807207"/>
            <a:ext cx="192024" cy="329184"/>
          </a:xfrm>
          <a:prstGeom prst="rightArrow">
            <a:avLst/>
          </a:prstGeom>
          <a:solidFill>
            <a:srgbClr val="5A6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61104" y="2286000"/>
            <a:ext cx="1700784" cy="13716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1104" y="2468880"/>
            <a:ext cx="1700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ID3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1104" y="2889504"/>
            <a:ext cx="170078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Intraday gate
(hours 12–23)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66460" y="2807207"/>
            <a:ext cx="192024" cy="329184"/>
          </a:xfrm>
          <a:prstGeom prst="rightArrow">
            <a:avLst/>
          </a:prstGeom>
          <a:solidFill>
            <a:srgbClr val="5A6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3056" y="2286000"/>
            <a:ext cx="1700784" cy="13716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63056" y="2468880"/>
            <a:ext cx="1700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CID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6" y="2889504"/>
            <a:ext cx="170078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Continuous
intraday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868412" y="2807207"/>
            <a:ext cx="192024" cy="329184"/>
          </a:xfrm>
          <a:prstGeom prst="rightArrow">
            <a:avLst/>
          </a:prstGeom>
          <a:solidFill>
            <a:srgbClr val="5A6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5008" y="2286000"/>
            <a:ext cx="1700784" cy="13716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65008" y="2468880"/>
            <a:ext cx="1700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BALANCING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5008" y="2889504"/>
            <a:ext cx="170078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Copper-plate
balancing (BE)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770364" y="2807207"/>
            <a:ext cx="192024" cy="329184"/>
          </a:xfrm>
          <a:prstGeom prst="rightArrow">
            <a:avLst/>
          </a:prstGeom>
          <a:solidFill>
            <a:srgbClr val="5A6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66960" y="2286000"/>
            <a:ext cx="1700784" cy="1371600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60" y="2468880"/>
            <a:ext cx="1700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REDISPATCH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2889504"/>
            <a:ext cx="170078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AC OPF on
the real grid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84048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1">
                <a:solidFill>
                  <a:srgbClr val="5A6673"/>
                </a:solidFill>
                <a:latin typeface="Calibri"/>
              </a:rPr>
              <a:t>Each stage hands its schedule to the next as a warm-start / anchor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434840"/>
            <a:ext cx="11064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•  Stages 1–5 are copper-plate (system-wide power balance only, no network) and share one Bellman-coupled 24-hour formulation — they differ only in the input data and what is frozen.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•  The intraday gates and the balancing market are adjustment markets: they re-clear cost first, then minimise total movement from the previous schedule (lexicographic tie-break) so units only move when there is a real reason.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•  The final stage is a full AC optimal power flow that enforces the physical grid — line ratings, voltages and reactive power — by redispatching only the units that are allowed to move.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MODEL · DAY-AHEAD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Stage 1 — Day-ahead economic dispatch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676656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102A43"/>
                </a:solidFill>
                <a:latin typeface="Calibri"/>
              </a:rPr>
              <a:t>•  Copper-plate dispatch over all 24 hours at once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450" b="0">
                <a:solidFill>
                  <a:srgbClr val="222A33"/>
                </a:solidFill>
                <a:latin typeface="Calibri"/>
              </a:rPr>
              <a:t>–  One system-wide balance per hour:  Σ generation = Σ load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450" b="0">
                <a:solidFill>
                  <a:srgbClr val="222A33"/>
                </a:solidFill>
                <a:latin typeface="Calibri"/>
              </a:rPr>
              <a:t>–  No network, voltage or reactive constraints at this stage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102A43"/>
                </a:solidFill>
                <a:latin typeface="Calibri"/>
              </a:rPr>
              <a:t>•  Reservoir hydro coupled across the day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450" b="0">
                <a:solidFill>
                  <a:srgbClr val="222A33"/>
                </a:solidFill>
                <a:latin typeface="Calibri"/>
              </a:rPr>
              <a:t>–  Full Bellman cost-to-go (water value) links the 24 hours so stored water is allocated to the most valuable hours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450" b="0">
                <a:solidFill>
                  <a:srgbClr val="222A33"/>
                </a:solidFill>
                <a:latin typeface="Calibri"/>
              </a:rPr>
              <a:t>–  Cost of reservoir output comes entirely from the future-value term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102A43"/>
                </a:solidFill>
                <a:latin typeface="Calibri"/>
              </a:rPr>
              <a:t>•  Merit-order clearing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450" b="0">
                <a:solidFill>
                  <a:srgbClr val="222A33"/>
                </a:solidFill>
                <a:latin typeface="Calibri"/>
              </a:rPr>
              <a:t>–  Zero-cost renewables (wind, solar, run-of-river) dispatched first, then nuclear, hydro, gas …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450" b="0">
                <a:solidFill>
                  <a:srgbClr val="222A33"/>
                </a:solidFill>
                <a:latin typeface="Calibri"/>
              </a:rPr>
              <a:t>–  Cross-border imports enter as fixed injections; slack &amp; load-shed units stand by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D65A2E"/>
                </a:solidFill>
                <a:latin typeface="Calibri"/>
              </a:rPr>
              <a:t>•  Solves as a linear program in ~1–5 s per 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417320"/>
            <a:ext cx="4023360" cy="4572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0" y="1417320"/>
            <a:ext cx="4023360" cy="502920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417320"/>
            <a:ext cx="4023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Objective (per day)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148840"/>
            <a:ext cx="36118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02A43"/>
                </a:solidFill>
                <a:latin typeface="Calibri"/>
              </a:rPr>
              <a:t>min   Σₕ Σ_g  c_g · p_{g,h}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            +  θ_future(water)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 i="0">
                <a:solidFill>
                  <a:srgbClr val="5A6673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1">
                <a:solidFill>
                  <a:srgbClr val="5A6673"/>
                </a:solidFill>
                <a:latin typeface="Calibri"/>
              </a:rPr>
              <a:t>subject to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Σ_g p_{g,h}  =  load_h      ∀h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p_g^min ≤ p_{g,h} ≤ p_g^max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reservoir storage balance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   + Bellman value cuts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 i="0">
                <a:solidFill>
                  <a:srgbClr val="5A6673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1">
                <a:solidFill>
                  <a:srgbClr val="5A6673"/>
                </a:solidFill>
                <a:latin typeface="Calibri"/>
              </a:rPr>
              <a:t>Output → day-ahead schedule,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1">
                <a:solidFill>
                  <a:srgbClr val="5A6673"/>
                </a:solidFill>
                <a:latin typeface="Calibri"/>
              </a:rPr>
              <a:t>the anchor for the intraday gates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MODEL · INTRADAY &amp; BALANCING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Stages 2–5 — Intraday gates &amp; balancing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The intraday gates (ID2 → ID3 → CID) and the balancing market refine the day-ahead schedule as forecasts are updated. Each is an adjustment market solved lexicographically, not a fresh clearing.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5212080" cy="16916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02A43"/>
                </a:solidFill>
                <a:latin typeface="Calibri"/>
              </a:rPr>
              <a:t>Step 1 — minimise dispatch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0">
                <a:solidFill>
                  <a:srgbClr val="5A6673"/>
                </a:solidFill>
                <a:latin typeface="Calibri"/>
              </a:rPr>
              <a:t>Re-clear the merit order for the updated demand — cheapest feasible units, as in any market.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148840"/>
            <a:ext cx="5212080" cy="16916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D65A2E"/>
                </a:solidFill>
                <a:latin typeface="Calibri"/>
              </a:rPr>
              <a:t>Step 2 — minimise movement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97480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0">
                <a:solidFill>
                  <a:srgbClr val="5A6673"/>
                </a:solidFill>
                <a:latin typeface="Calibri"/>
              </a:rPr>
              <a:t>Among all cost-optimal solutions, pick the one closest to the previous gate: min Σ (Δ↑ + Δ↓). Removes cost-degenerate reshuffles that move units for no net reason.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222A33"/>
                </a:solidFill>
                <a:latin typeface="Calibri"/>
              </a:rPr>
              <a:t>•  Anchoring chain:  ID2 anchors to day-ahead;  ID3 retrades only hours 12–23 (0–11 carry over);  CID rolls gate-by-gate, anchoring each hour to the latest market view.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6A4C93"/>
                </a:solidFill>
                <a:latin typeface="Calibri"/>
              </a:rPr>
              <a:t>•  Stage 5 — Balancing: a copper-plate balancing market on balancing-energy (BE) data, anchored to the CID schedule with the same minimum-movement clearing — the final market schedule before the network step.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222A33"/>
                </a:solidFill>
                <a:latin typeface="Calibri"/>
              </a:rPr>
              <a:t>•  Nuclear is frozen at its day-ahead value from ID2 onward, including balancing (baseload does not chase short-term signals).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222A33"/>
                </a:solidFill>
                <a:latin typeface="Calibri"/>
              </a:rPr>
              <a:t>•  Every gate reuses the same Bellman-coupled 24-hour reservoir formulation as the day-ahead stage.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D65A2E"/>
                </a:solidFill>
                <a:latin typeface="Calibri"/>
              </a:rPr>
              <a:t>•  The balancing schedule is the realised market dispatch that the AC redispatch must make grid-feasible.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MODEL · REDISPATCH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Stage 6 — AC OPF redispatch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68580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102A43"/>
                </a:solidFill>
                <a:latin typeface="Calibri"/>
              </a:rPr>
              <a:t>•  Full non-linear AC optimal power flow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–  Enforces the real grid: line thermal ratings, bus voltage band, and AC power-balance (active + reactive) at every bus.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–  Warm-started from the balancing-stage schedule; the objective keeps the dispatch as close to it as possible while restoring feasibility.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102A43"/>
                </a:solidFill>
                <a:latin typeface="Calibri"/>
              </a:rPr>
              <a:t>•  Who can move?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–  Frozen at market value:  Nuclear, run-of-river Hydro, Biomass (pmin = pmax).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–  Free to redispatch:  Gas, Coal, Oil, reservoir &amp; pumped hydro, and curtailable Wind / Solar.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102A43"/>
                </a:solidFill>
                <a:latin typeface="Calibri"/>
              </a:rPr>
              <a:t>•  Reactive &amp; voltage realism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–  Shunt reactors (REE fleet), full π-model line charging, per-fuel generator reactive capability, and an AVR voltage band.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D65A2E"/>
                </a:solidFill>
                <a:latin typeface="Calibri"/>
              </a:rPr>
              <a:t>•  Solved with Ipopt + HSL/MA57 — every hour reaches a locally optimal AC solution.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35240" y="1417320"/>
            <a:ext cx="3977639" cy="4297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35240" y="1417320"/>
            <a:ext cx="3977639" cy="502920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1417320"/>
            <a:ext cx="39776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Redispatch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148840"/>
            <a:ext cx="356616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02A43"/>
                </a:solidFill>
                <a:latin typeface="Calibri"/>
              </a:rPr>
              <a:t>min   base cost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D65A2E"/>
                </a:solidFill>
                <a:latin typeface="Calibri"/>
              </a:rPr>
              <a:t>   +  w · Σ (P_g − P_g^BAL)²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 i="0">
                <a:solidFill>
                  <a:srgbClr val="5A6673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1">
                <a:solidFill>
                  <a:srgbClr val="5A6673"/>
                </a:solidFill>
                <a:latin typeface="Calibri"/>
              </a:rPr>
              <a:t>subject to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22A33"/>
                </a:solidFill>
                <a:latin typeface="Calibri"/>
              </a:rPr>
              <a:t>AC power balance  (P &amp; Q)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22A33"/>
                </a:solidFill>
                <a:latin typeface="Calibri"/>
              </a:rPr>
              <a:t>|S_line| ≤ rating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22A33"/>
                </a:solidFill>
                <a:latin typeface="Calibri"/>
              </a:rPr>
              <a:t>0.95 ≤ V ≤ 1.05 pu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22A33"/>
                </a:solidFill>
                <a:latin typeface="Calibri"/>
              </a:rPr>
              <a:t>gen P–Q capability limits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22A33"/>
                </a:solidFill>
                <a:latin typeface="Calibri"/>
              </a:rPr>
              <a:t>frozen units:  P = P^BAL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 i="0">
                <a:solidFill>
                  <a:srgbClr val="5A6673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1">
                <a:solidFill>
                  <a:srgbClr val="5A6673"/>
                </a:solidFill>
                <a:latin typeface="Calibri"/>
              </a:rPr>
              <a:t>P^BAL = balancing-stage schedule;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1">
                <a:solidFill>
                  <a:srgbClr val="5A6673"/>
                </a:solidFill>
                <a:latin typeface="Calibri"/>
              </a:rPr>
              <a:t>w = anchor weight to the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MODEL · AC REALISM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Methodology deep-dive — a physically realistic AC OPF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A pure loss-minimising AC OPF is physically naïve: it pushes reactive power onto generators and rails almost every bus up to the upper voltage limit. Four mechanisms — each calibrated to the real Spanish grid — restore realistic reactive flows and voltages.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440680" cy="1783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118872" cy="1783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49631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1 · Line charging (π-model)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990088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22A33"/>
                </a:solidFill>
                <a:latin typeface="Calibri"/>
              </a:rPr>
              <a:t>Every AC line is a full π-model. ~48,000 km of EHV generate ≈21 GVAr of charging at 1.0 pu (≈17 GVAr from 400 kV alone) that must be absorbed.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331720"/>
            <a:ext cx="5440680" cy="1783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331720"/>
            <a:ext cx="118872" cy="1783080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249631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F5C8A"/>
                </a:solidFill>
                <a:latin typeface="Calibri"/>
              </a:rPr>
              <a:t>2 · Shunt reactors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990088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22A33"/>
                </a:solidFill>
                <a:latin typeface="Calibri"/>
              </a:rPr>
              <a:t>REE's installed peninsular reactor fleet (15.5 GVAr) is placed on buses to soak up that charging — exactly what the real operator does.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15968"/>
            <a:ext cx="5440680" cy="1783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15968"/>
            <a:ext cx="118872" cy="1783080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48056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D65A2E"/>
                </a:solidFill>
                <a:latin typeface="Calibri"/>
              </a:rPr>
              <a:t>3 · Generator reactive capability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974336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22A33"/>
                </a:solidFill>
                <a:latin typeface="Calibri"/>
              </a:rPr>
              <a:t>Technology-specific P–Q limits: a capability circle for synchronous machines, a grid-code cap for inverter-based wind &amp; solar.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4315968"/>
            <a:ext cx="5440680" cy="1783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4315968"/>
            <a:ext cx="118872" cy="178308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448056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4 · AVR voltage band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4974336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22A33"/>
                </a:solidFill>
                <a:latin typeface="Calibri"/>
              </a:rPr>
              <a:t>Synchronous machines hold their bus to an AVR setpoint near nominal, pulling the voltage profile off the upper rail.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METHODOLOGY · REACTORS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Shunt reactors — compensating EHV line charging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667512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 b="1">
                <a:solidFill>
                  <a:srgbClr val="102A43"/>
                </a:solidFill>
                <a:latin typeface="Calibri"/>
              </a:rPr>
              <a:t>•  The problem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–  Every line is a full π-model with charging susceptance. Across ~48,000 km of 400/220 kV this generates ≈21 GVAr at nominal voltage (≈17 GVAr from 400 kV alone).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–  With nothing to absorb it, the OPF dumps that reactive onto generators and voltages ride the upper band — physically the job of shunt reactors.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–  Modelled as proper shunt elements with negative susceptance (bs &lt; 0, inductive). PowerModels ignores bus-level bs, so they must live in the shunt component.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 b="1">
                <a:solidFill>
                  <a:srgbClr val="102A43"/>
                </a:solidFill>
                <a:latin typeface="Calibri"/>
              </a:rPr>
              <a:t>•  Disaggregation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–  The aggregate fleet is spread to buses in proportion to the AC line charging connected at each bus, within each voltage group (400 kV vs ≤220 kV).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–  Per-bus result cached in Data/reactors.csv — fixed and reproducible across runs.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50" b="1">
                <a:solidFill>
                  <a:srgbClr val="D65A2E"/>
                </a:solidFill>
                <a:latin typeface="Calibri"/>
              </a:rPr>
              <a:t>–  Config knob  in_service_pct  scales the energised fraction — emulating switched reactors without turning the AC OPF into a mixed-integer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32588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A43"/>
                </a:solidFill>
                <a:latin typeface="Calibri"/>
              </a:rPr>
              <a:t>Installed peninsular fleet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673352"/>
            <a:ext cx="4160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1">
                <a:solidFill>
                  <a:srgbClr val="5A6673"/>
                </a:solidFill>
                <a:latin typeface="Calibri"/>
              </a:rPr>
              <a:t>REE Boletín Mensual, diciembre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2103120"/>
            <a:ext cx="4160520" cy="5029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62088" y="2103120"/>
            <a:ext cx="1783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Voltage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103120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Installed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2103120"/>
            <a:ext cx="822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Units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2606040"/>
            <a:ext cx="416052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2606040"/>
            <a:ext cx="1783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A33"/>
                </a:solidFill>
                <a:latin typeface="Calibri"/>
              </a:rPr>
              <a:t>400 kV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606040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A33"/>
                </a:solidFill>
                <a:latin typeface="Calibri"/>
              </a:rPr>
              <a:t>11,750 MVAr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2606040"/>
            <a:ext cx="822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A33"/>
                </a:solidFill>
                <a:latin typeface="Calibri"/>
              </a:rPr>
              <a:t>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3108960"/>
            <a:ext cx="41605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62088" y="3108960"/>
            <a:ext cx="1783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A33"/>
                </a:solidFill>
                <a:latin typeface="Calibri"/>
              </a:rPr>
              <a:t>≤ 220 kV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108960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A33"/>
                </a:solidFill>
                <a:latin typeface="Calibri"/>
              </a:rPr>
              <a:t>3,722 MVAr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3108960"/>
            <a:ext cx="822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A33"/>
                </a:solidFill>
                <a:latin typeface="Calibri"/>
              </a:rPr>
              <a:t>55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3611880"/>
            <a:ext cx="4160520" cy="502920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2088" y="3611880"/>
            <a:ext cx="1783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Peninsular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611880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15,472 MVAr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3611880"/>
            <a:ext cx="822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135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4224528"/>
            <a:ext cx="4160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1">
                <a:solidFill>
                  <a:srgbClr val="5A6673"/>
                </a:solidFill>
                <a:latin typeface="Calibri"/>
              </a:rPr>
              <a:t>≈ 80% of the EHV line charging is compensated — consistent with the standard EHV planning rule. Balearic &amp; Canary systems excluded (non-synchronous).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52360" y="5166360"/>
            <a:ext cx="4160520" cy="1143000"/>
          </a:xfrm>
          <a:prstGeom prst="rect">
            <a:avLst/>
          </a:prstGeom>
          <a:solidFill>
            <a:srgbClr val="1B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60" y="5166360"/>
            <a:ext cx="4160520" cy="384048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5166360"/>
            <a:ext cx="3886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config.toml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16952" y="5669280"/>
            <a:ext cx="38313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0" i="0">
                <a:solidFill>
                  <a:srgbClr val="8BE9C4"/>
                </a:solidFill>
                <a:latin typeface="Consolas"/>
              </a:rPr>
              <a:t>[reactors]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0" i="0">
                <a:solidFill>
                  <a:srgbClr val="8BE9C4"/>
                </a:solidFill>
                <a:latin typeface="Consolas"/>
              </a:rPr>
              <a:t>enabled        = true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0" i="0">
                <a:solidFill>
                  <a:srgbClr val="8BE9C4"/>
                </a:solidFill>
                <a:latin typeface="Consolas"/>
              </a:rPr>
              <a:t>in_service_pct = 100.0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METHODOLOGY · REACTIVE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Generator reactive capability — per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Reactive limits are technology-specific and enforced in every redispatch stage (hour-by-hour anchored solves and the Bellman-coupled multi-hour solve).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5440680" cy="3703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5440680" cy="502920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5440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Synchronous machines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1">
                <a:solidFill>
                  <a:srgbClr val="5A6673"/>
                </a:solidFill>
                <a:latin typeface="Calibri"/>
              </a:rPr>
              <a:t>Nuclear · Gas · Coal · Oil · Biomass · Hydro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80360"/>
            <a:ext cx="498348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907792"/>
            <a:ext cx="4983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 i="0">
                <a:solidFill>
                  <a:srgbClr val="102A43"/>
                </a:solidFill>
                <a:latin typeface="Calibri"/>
              </a:rPr>
              <a:t>P² + Q²  ≤  S_rated²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D65A2E"/>
                </a:solidFill>
                <a:latin typeface="Calibri"/>
              </a:rPr>
              <a:t>S_rated = installed MVA / 0.90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57600"/>
            <a:ext cx="49834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0">
                <a:solidFill>
                  <a:srgbClr val="222A33"/>
                </a:solidFill>
                <a:latin typeface="Calibri"/>
              </a:rPr>
              <a:t>•  An apparent-power capability circle, sized on installed nameplate MVA.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0">
                <a:solidFill>
                  <a:srgbClr val="222A33"/>
                </a:solidFill>
                <a:latin typeface="Calibri"/>
              </a:rPr>
              <a:t>•  A machine's MVA rating is fixed regardless of output, so it can supply reactive even at low MW.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0">
                <a:solidFill>
                  <a:srgbClr val="222A33"/>
                </a:solidFill>
                <a:latin typeface="Calibri"/>
              </a:rPr>
              <a:t>•  Convex (second-order cone) → Ipopt solves it as an NLP. Replaces the old ±Pmax box that allowed PF 0.707 at full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874519"/>
            <a:ext cx="5440680" cy="3703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874519"/>
            <a:ext cx="5440680" cy="502920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874519"/>
            <a:ext cx="5440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Inverter-based units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87168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1">
                <a:solidFill>
                  <a:srgbClr val="5A6673"/>
                </a:solidFill>
                <a:latin typeface="Calibri"/>
              </a:rPr>
              <a:t>Wind · Solar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880360"/>
            <a:ext cx="498348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944368"/>
            <a:ext cx="4983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02A43"/>
                </a:solidFill>
                <a:latin typeface="Calibri"/>
              </a:rPr>
              <a:t>|Q|  ≤  tan(acos(0.95)) · 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657600"/>
            <a:ext cx="49834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0">
                <a:solidFill>
                  <a:srgbClr val="222A33"/>
                </a:solidFill>
                <a:latin typeface="Calibri"/>
              </a:rPr>
              <a:t>•  A grid-code reactive cap tied to actual output, not nameplate.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0">
                <a:solidFill>
                  <a:srgbClr val="222A33"/>
                </a:solidFill>
                <a:latin typeface="Calibri"/>
              </a:rPr>
              <a:t>•  Sizing on actual P stops a heavily-derated farm (e.g. 38 of 100 MW) parking at a very low PF.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0">
                <a:solidFill>
                  <a:srgbClr val="222A33"/>
                </a:solidFill>
                <a:latin typeface="Calibri"/>
              </a:rPr>
              <a:t>•  An installed-MVA circle for renewables gave low-availability farms huge reactive headroom — the per-fuel split is what fixes it.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742432"/>
            <a:ext cx="11064240" cy="603504"/>
          </a:xfrm>
          <a:prstGeom prst="rect">
            <a:avLst/>
          </a:prstGeom>
          <a:solidFill>
            <a:srgbClr val="1B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742432"/>
            <a:ext cx="11064240" cy="384048"/>
          </a:xfrm>
          <a:prstGeom prst="rect">
            <a:avLst/>
          </a:prstGeom>
          <a:solidFill>
            <a:srgbClr val="5A6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742432"/>
            <a:ext cx="10789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config.toml  [generators]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6245352"/>
            <a:ext cx="10735056" cy="-36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0" i="0">
                <a:solidFill>
                  <a:srgbClr val="8BE9C4"/>
                </a:solidFill>
                <a:latin typeface="Consolas"/>
              </a:rPr>
              <a:t>apparent_power_limit = true     rated_power_factor = 0.90     renewable_power_factor = 0.95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METHODOLOGY · VOLTAGE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Voltage realism — load reactive &amp; AVR regulation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440680" cy="22402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4983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02A43"/>
                </a:solidFill>
                <a:latin typeface="Calibri"/>
              </a:rPr>
              <a:t>Load reactive demand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4983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D65A2E"/>
                </a:solidFill>
                <a:latin typeface="Consolas"/>
              </a:rPr>
              <a:t>qd = pd · tan(acos(power_factor))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4983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222A33"/>
                </a:solidFill>
                <a:latin typeface="Calibri"/>
              </a:rPr>
              <a:t>•  power_factor is the net PF the transmission grid sees; distribution-level correction is assumed already applied below the model boundary.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222A33"/>
                </a:solidFill>
                <a:latin typeface="Calibri"/>
              </a:rPr>
              <a:t>•  Default 1.0 ⇒ active-only load, leaving all the line charging for the reactors to absorb; a lower PF lets the load soak up much of it (~11.5 GVAr at 0.95). Tune with reactors together.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280160"/>
            <a:ext cx="5440680" cy="22402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4983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02A43"/>
                </a:solidFill>
                <a:latin typeface="Calibri"/>
              </a:rPr>
              <a:t>AVR voltage band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498348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222A33"/>
                </a:solidFill>
                <a:latin typeface="Calibri"/>
              </a:rPr>
              <a:t>•  A loss-minimising OPF rails voltages to vmax (higher V ⇒ lower current ⇒ lower losses).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222A33"/>
                </a:solidFill>
                <a:latin typeface="Calibri"/>
              </a:rPr>
              <a:t>•  Real synchronous machines are AVR-regulated to a setpoint: AVR buses (slack + synchronous-hosting) are held to a tight 0.98–1.03 band.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222A33"/>
                </a:solidFill>
                <a:latin typeface="Calibri"/>
              </a:rPr>
              <a:t>•  Renewable-only &amp; load buses keep the wider ±0.05 — a derated farm can't firmly hold a setpoint.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03320"/>
            <a:ext cx="11064240" cy="13716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4048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D65A2E"/>
                </a:solidFill>
                <a:latin typeface="Calibri"/>
              </a:rPr>
              <a:t>Effect on the profile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AEB9C4"/>
                </a:solidFill>
                <a:latin typeface="Calibri"/>
              </a:rPr>
              <a:t>full fleet, 48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858768"/>
            <a:ext cx="31089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C7D4E0"/>
                </a:solidFill>
                <a:latin typeface="Calibri"/>
              </a:rPr>
              <a:t>Mean bus voltage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1.037 → 1.023 pu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858768"/>
            <a:ext cx="3291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C7D4E0"/>
                </a:solidFill>
                <a:latin typeface="Calibri"/>
              </a:rPr>
              <a:t>Buses sitting at vmax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7.8% → 0.9%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57800"/>
            <a:ext cx="11064240" cy="960120"/>
          </a:xfrm>
          <a:prstGeom prst="rect">
            <a:avLst/>
          </a:prstGeom>
          <a:solidFill>
            <a:srgbClr val="1B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257800"/>
            <a:ext cx="11064240" cy="384048"/>
          </a:xfrm>
          <a:prstGeom prst="rect">
            <a:avLst/>
          </a:prstGeom>
          <a:solidFill>
            <a:srgbClr val="5A6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257800"/>
            <a:ext cx="10789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config.toml  [network]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760720"/>
            <a:ext cx="107350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0" i="0">
                <a:solidFill>
                  <a:srgbClr val="8BE9C4"/>
                </a:solidFill>
                <a:latin typeface="Consolas"/>
              </a:rPr>
              <a:t>voltage_band = 0.05     gen_bus_voltage_control = true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0" i="0">
                <a:solidFill>
                  <a:srgbClr val="8BE9C4"/>
                </a:solidFill>
                <a:latin typeface="Consolas"/>
              </a:rPr>
              <a:t>gen_bus_vmin = 0.98     gen_bus_vmax = 1.03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651760"/>
            <a:ext cx="1463040" cy="91440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D65A2E"/>
                </a:solidFill>
                <a:latin typeface="Calibri"/>
              </a:rPr>
              <a:t>PART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1">
                <a:solidFill>
                  <a:srgbClr val="B6C4D2"/>
                </a:solidFill>
                <a:latin typeface="Calibri"/>
              </a:rPr>
              <a:t>The Spanish peninsular transmission system on two contrasting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CASE ·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Spanish peninsular grid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697480" cy="1371600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2697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1,236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buses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4992" y="1371600"/>
            <a:ext cx="2697480" cy="13716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4992" y="1481328"/>
            <a:ext cx="2697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2,345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228600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AC branches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1371600"/>
            <a:ext cx="2697480" cy="1371600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4" y="1481328"/>
            <a:ext cx="2697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2,035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1344" y="228600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generating units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97696" y="1371600"/>
            <a:ext cx="2697480" cy="1371600"/>
          </a:xfrm>
          <a:prstGeom prst="rect">
            <a:avLst/>
          </a:prstGeom>
          <a:solidFill>
            <a:srgbClr val="5A6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1481328"/>
            <a:ext cx="2697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28600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hourly snapshots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63240"/>
            <a:ext cx="110642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0">
                <a:solidFill>
                  <a:srgbClr val="222A33"/>
                </a:solidFill>
                <a:latin typeface="Calibri"/>
              </a:rPr>
              <a:t>•  Geographic transmission model of peninsular Spain at 400 / 220 / 132 kV and below, built from REE network data — every line is a full π-model with charging susceptance.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0">
                <a:solidFill>
                  <a:srgbClr val="222A33"/>
                </a:solidFill>
                <a:latin typeface="Calibri"/>
              </a:rPr>
              <a:t>•  EHV scale: ~48,000 km of lines carry roughly 21 GVAr of line charging at 1.0 pu (≈17 GVAr from the 400 kV layer alone) — reactive management is a first-order concern.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0">
                <a:solidFill>
                  <a:srgbClr val="222A33"/>
                </a:solidFill>
                <a:latin typeface="Calibri"/>
              </a:rPr>
              <a:t>•  Shunt reactors from the REE December-2024 fleet (≈11.75 GVAr at 400 kV, ≈3.72 GVAr at ≤220 kV) are placed on buses in proportion to connected line charging.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0">
                <a:solidFill>
                  <a:srgbClr val="222A33"/>
                </a:solidFill>
                <a:latin typeface="Calibri"/>
              </a:rPr>
              <a:t>•  Cross-border AC ties to France and Portugal (13 lines, no HVDC) inject the market-cleared exchange as fixed boundary injections — ~1.9 GW of net imports on average.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CASE ·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Two representative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338328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6240" y="1417320"/>
            <a:ext cx="3566160" cy="566928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0" y="1417320"/>
            <a:ext cx="3566160" cy="566928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17320"/>
            <a:ext cx="3383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Attribute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417320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8 July 2024  ·  summer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417320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 December 2024  ·  winter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1984248"/>
            <a:ext cx="10515600" cy="5669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84248"/>
            <a:ext cx="3383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02A43"/>
                </a:solidFill>
                <a:latin typeface="Calibri"/>
              </a:rPr>
              <a:t>Season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984248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Summer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984248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Winter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551176"/>
            <a:ext cx="105156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551176"/>
            <a:ext cx="3383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02A43"/>
                </a:solidFill>
                <a:latin typeface="Calibri"/>
              </a:rPr>
              <a:t>Peak 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551176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39.4 GW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551176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33.9 GW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118104"/>
            <a:ext cx="10515600" cy="5669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118104"/>
            <a:ext cx="3383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02A43"/>
                </a:solidFill>
                <a:latin typeface="Calibri"/>
              </a:rPr>
              <a:t>Minimum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118104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21.3 GW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118104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21.4 GW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685032"/>
            <a:ext cx="105156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685032"/>
            <a:ext cx="3383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02A43"/>
                </a:solidFill>
                <a:latin typeface="Calibri"/>
              </a:rPr>
              <a:t>Avg. system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3685032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≈ 147 k€/h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685032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≈ 464 k€/h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251960"/>
            <a:ext cx="10515600" cy="5669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251960"/>
            <a:ext cx="3383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02A43"/>
                </a:solidFill>
                <a:latin typeface="Calibri"/>
              </a:rPr>
              <a:t>Dominant flexibility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4251960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Solar midday peak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251960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Gas-heavy evenings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4818888"/>
            <a:ext cx="105156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818888"/>
            <a:ext cx="3383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02A43"/>
                </a:solidFill>
                <a:latin typeface="Calibri"/>
              </a:rPr>
              <a:t>Hours solved (AC)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4818888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24 / 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818888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24 / 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522976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1">
                <a:solidFill>
                  <a:srgbClr val="5A6673"/>
                </a:solidFill>
                <a:latin typeface="Calibri"/>
              </a:rPr>
              <a:t>Two days chosen to bracket the system: a high-renewable summer day with a pronounced solar peak, and a tighter winter day where thermal generation carries the evening — driving the ≈3× higher system cost.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651760"/>
            <a:ext cx="1463040" cy="91440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D65A2E"/>
                </a:solidFill>
                <a:latin typeface="Calibri"/>
              </a:rPr>
              <a:t>PART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1">
                <a:solidFill>
                  <a:srgbClr val="B6C4D2"/>
                </a:solidFill>
                <a:latin typeface="Calibri"/>
              </a:rPr>
              <a:t>Dispatch, prices, network loading, voltages and reactive 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7492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1">
                <a:solidFill>
                  <a:srgbClr val="9FB0C0"/>
                </a:solidFill>
                <a:latin typeface="Calibri"/>
              </a:rPr>
              <a:t>Note: the operational results that follow reflect the chain through CID → redispatch. The balancing stage was added subsequently and its results are pending — they will refresh these figures once it is run.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RESULTS · 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Generation mix &amp; average dispatch</a:t>
            </a:r>
          </a:p>
        </p:txBody>
      </p:sp>
      <p:pic>
        <p:nvPicPr>
          <p:cNvPr id="6" name="Picture 5" descr="fuel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57282"/>
            <a:ext cx="7315200" cy="427495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01000" y="1417320"/>
            <a:ext cx="3779215" cy="4754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554480"/>
            <a:ext cx="34134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D65A2E"/>
                </a:solidFill>
                <a:latin typeface="Calibri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2057400"/>
            <a:ext cx="341345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Hydro is the workhorse of both days (≈10 GW average), followed by solar (≈6.7 GW) and nuclear baseload (≈5.7 GW).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Wind contributes ≈4.9 GW on average; gas (≈1.4 GW) fills the residual and sets the price at the margin.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Coal and oil sit essentially idle — pushed out of the merit order by cheap renewables and hydro.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RESULTS · 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Installed capacity vs. utilisation</a:t>
            </a:r>
          </a:p>
        </p:txBody>
      </p:sp>
      <p:pic>
        <p:nvPicPr>
          <p:cNvPr id="6" name="Picture 5" descr="capacity_vs_disp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7677"/>
            <a:ext cx="7315200" cy="447416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01000" y="1417320"/>
            <a:ext cx="3779215" cy="4754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554480"/>
            <a:ext cx="34134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D65A2E"/>
                </a:solidFill>
                <a:latin typeface="Calibri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2057400"/>
            <a:ext cx="341345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Gas has the largest installed fleet (≈28 GW) but runs at low utilisation — a peaking / balancing role.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Solar (33 GW) and wind (30 GW) dominate capacity; their average output reflects availability, not scarcity.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Nuclear runs close to its ≈7.4 GW nameplate — the firm baseload of the system.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RESULTS ·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Merit order — dispatch vs. marginal cost</a:t>
            </a:r>
          </a:p>
        </p:txBody>
      </p:sp>
      <p:pic>
        <p:nvPicPr>
          <p:cNvPr id="6" name="Picture 5" descr="merit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56147"/>
            <a:ext cx="7315200" cy="427722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01000" y="1417320"/>
            <a:ext cx="3779215" cy="4754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554480"/>
            <a:ext cx="34134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D65A2E"/>
                </a:solidFill>
                <a:latin typeface="Calibri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2057400"/>
            <a:ext cx="341345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Zero-marginal-cost renewables and hydro are dispatched first and carry the bulk of the energy.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Dispatch falls away as marginal cost rises — the classic merit-order staircase.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Gas units cluster at the expensive, lightly-loaded end: on only when the grid needs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RESULTS · 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Top dispatched generators</a:t>
            </a:r>
          </a:p>
        </p:txBody>
      </p:sp>
      <p:pic>
        <p:nvPicPr>
          <p:cNvPr id="6" name="Picture 5" descr="top_gener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40" y="1325880"/>
            <a:ext cx="6511399" cy="4937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269480" y="1417320"/>
            <a:ext cx="4510735" cy="4754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1554480"/>
            <a:ext cx="41449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D65A2E"/>
                </a:solidFill>
                <a:latin typeface="Calibri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057400"/>
            <a:ext cx="414497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The most-dispatched units are large hydro and nuclear stations running near capacity.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High average utilisation among the top units confirms a stable, baseload-anchored dispatch.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No single thermal unit dominates — flexibility is spread across the gas fleet.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RESULTS · PROFILES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Hourly generation mix — both days</a:t>
            </a:r>
          </a:p>
        </p:txBody>
      </p:sp>
      <p:pic>
        <p:nvPicPr>
          <p:cNvPr id="6" name="Picture 5" descr="hourly_generation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6260"/>
            <a:ext cx="7680960" cy="3937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66760" y="1417320"/>
            <a:ext cx="3413455" cy="4754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554480"/>
            <a:ext cx="3047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D65A2E"/>
                </a:solidFill>
                <a:latin typeface="Calibri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057400"/>
            <a:ext cx="304769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Summer (left): a strong midday solar bulge displaces gas and even backs nuclear down at the peak.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Winter (right): no solar shoulder — hydro and gas shape the evening ramp, lifting system cost.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Demand is met in every hour of both days with the real fleet (post-redispatch).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RESULTS ·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Hourly system cost &amp; price</a:t>
            </a:r>
          </a:p>
        </p:txBody>
      </p:sp>
      <p:pic>
        <p:nvPicPr>
          <p:cNvPr id="6" name="Picture 5" descr="hourly_p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29306"/>
            <a:ext cx="7680960" cy="47309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66760" y="1417320"/>
            <a:ext cx="3413455" cy="4754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554480"/>
            <a:ext cx="3047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D65A2E"/>
                </a:solidFill>
                <a:latin typeface="Calibri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057400"/>
            <a:ext cx="304769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System price tracks the marginal technology: low when solar/hydro clear, high in thermal-heavy hours.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The winter day is markedly more expensive (≈464 k€/h vs ≈147 k€/h average) — more gas at the margin.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Price peaks align with the morning and evening demand ramps.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RESULTS · FLEXIBILITY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Hour-to-hour dispatch changes</a:t>
            </a:r>
          </a:p>
        </p:txBody>
      </p:sp>
      <p:pic>
        <p:nvPicPr>
          <p:cNvPr id="6" name="Picture 5" descr="hourly_dispatch_cha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93058"/>
            <a:ext cx="7863840" cy="360340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49640" y="1417320"/>
            <a:ext cx="3230575" cy="4754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554480"/>
            <a:ext cx="28648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D65A2E"/>
                </a:solidFill>
                <a:latin typeface="Calibri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057400"/>
            <a:ext cx="28648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Bars show each technology's hour-on-hour change; the line is the net load change.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Hydro and gas provide the bulk of the ramping flexibility, mirroring the demand curve.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Solar swings drive the largest mid-day movements on the summer day.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RESULTS · ADEQUACY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Slack-bus generation — capacity adequacy</a:t>
            </a:r>
          </a:p>
        </p:txBody>
      </p:sp>
      <p:pic>
        <p:nvPicPr>
          <p:cNvPr id="6" name="Picture 5" descr="slack_gen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3920"/>
            <a:ext cx="7680960" cy="3481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66760" y="1417320"/>
            <a:ext cx="3413455" cy="4754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554480"/>
            <a:ext cx="3047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D65A2E"/>
                </a:solidFill>
                <a:latin typeface="Calibri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057400"/>
            <a:ext cx="304769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The slack unit (priced at 1,000× base) only runs if the real fleet cannot meet demand.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Dispatch stays negligible across all 48 hours — no genuine capacity shortfall.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Confirms the modelled fleet plus imports is adequate for both days.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RESULTS ·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Branch loading &amp; congestion</a:t>
            </a:r>
          </a:p>
        </p:txBody>
      </p:sp>
      <p:pic>
        <p:nvPicPr>
          <p:cNvPr id="6" name="Picture 5" descr="branch_loa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73579"/>
            <a:ext cx="7863840" cy="344236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49640" y="1417320"/>
            <a:ext cx="3230575" cy="4754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554480"/>
            <a:ext cx="28648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D65A2E"/>
                </a:solidFill>
                <a:latin typeface="Calibri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057400"/>
            <a:ext cx="28648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Across 48 hours and 2,345 branches, mean loading is only ≈14% — the grid is lightly loaded on average.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Just ≈0.3% of branch-hours exceed 90% loading; congestion is rare and localised.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A handful of branches are persistently the binding constraints that the redispatch works around.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RESULTS ·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Bus voltage profile</a:t>
            </a:r>
          </a:p>
        </p:txBody>
      </p:sp>
      <p:pic>
        <p:nvPicPr>
          <p:cNvPr id="6" name="Picture 5" descr="voltage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31050"/>
            <a:ext cx="7680960" cy="332741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66760" y="1417320"/>
            <a:ext cx="3413455" cy="4754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554480"/>
            <a:ext cx="3047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D65A2E"/>
                </a:solidFill>
                <a:latin typeface="Calibri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057400"/>
            <a:ext cx="304769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Every bus in every hour stays inside the 0.95–1.05 pu band — no violations.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Mean voltage ≈1.024 pu: the AC OPF holds a healthy, slightly-high profile.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Reactor switching and reactive procurement keep EHV charging in check.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RESULTS ·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Voltage map — mean &amp; worst-case</a:t>
            </a:r>
          </a:p>
        </p:txBody>
      </p:sp>
      <p:pic>
        <p:nvPicPr>
          <p:cNvPr id="6" name="Picture 5" descr="bus_voltag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22719"/>
            <a:ext cx="7955279" cy="354408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41079" y="1417320"/>
            <a:ext cx="3139136" cy="4754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59" y="1554480"/>
            <a:ext cx="2773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D65A2E"/>
                </a:solidFill>
                <a:latin typeface="Calibri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59" y="2057400"/>
            <a:ext cx="2773376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Left: mean voltage per bus; right: worst-case minimum across all solved hours.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Voltages stay comfortably within limits across the whole peninsula.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No regional pocket drops below 0.95 pu even in the worst hour.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RESULTS · REACTIVE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Reactive power procurement</a:t>
            </a:r>
          </a:p>
        </p:txBody>
      </p:sp>
      <p:pic>
        <p:nvPicPr>
          <p:cNvPr id="6" name="Picture 5" descr="reactive_procur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9352"/>
            <a:ext cx="7315200" cy="301081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01000" y="1417320"/>
            <a:ext cx="3779215" cy="4754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554480"/>
            <a:ext cx="34134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D65A2E"/>
                </a:solidFill>
                <a:latin typeface="Calibri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2057400"/>
            <a:ext cx="341345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Synchronous hydro and gas units supply most of the reactive support, within their P–Q capability circles.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Inverter-based wind and solar contribute bounded reactive tied to their actual output.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Per-fuel power factors stay realistic — no unit is pushed to an implausible operating point.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RESULTS · REACTIVE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Reactive branch flows</a:t>
            </a:r>
          </a:p>
        </p:txBody>
      </p:sp>
      <p:pic>
        <p:nvPicPr>
          <p:cNvPr id="6" name="Picture 5" descr="reactive_fl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15396"/>
            <a:ext cx="7315200" cy="31587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01000" y="1417320"/>
            <a:ext cx="3779215" cy="4754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554480"/>
            <a:ext cx="34134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D65A2E"/>
                </a:solidFill>
                <a:latin typeface="Calibri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2057400"/>
            <a:ext cx="341345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Most branches carry predominantly active power (high power factor) — the intended design point.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Reactive flows concentrate where line charging and reactor compensation interact.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The π-model line charging and shunt reactors net out to a stable reactive balance.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RESULTS · ADEQUACY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Feasibility &amp; load shedding</a:t>
            </a:r>
          </a:p>
        </p:txBody>
      </p:sp>
      <p:pic>
        <p:nvPicPr>
          <p:cNvPr id="6" name="Picture 5" descr="load_shedding_hour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1537"/>
            <a:ext cx="7680960" cy="436644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66760" y="1417320"/>
            <a:ext cx="3413455" cy="4754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554480"/>
            <a:ext cx="3047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D65A2E"/>
                </a:solidFill>
                <a:latin typeface="Calibri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057400"/>
            <a:ext cx="304769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A load-shedding unit (Value of Lost Load = 10,000 €/MWh) sits at every load bus as a safety valve.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Zero load shedding was dispatched across all 48 hours.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Raising the line-rating factor from 70% to 80% was enough to make every hour AC-feasible.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Results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3611880" cy="1325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09728" cy="13258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81912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2A9D8F"/>
                </a:solidFill>
                <a:latin typeface="Calibri"/>
              </a:rPr>
              <a:t>48 / 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58568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673"/>
                </a:solidFill>
                <a:latin typeface="Calibri"/>
              </a:rPr>
              <a:t>hours solved to AC optimality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8536" y="1417320"/>
            <a:ext cx="3611880" cy="1325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88536" y="1417320"/>
            <a:ext cx="109728" cy="1325880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1581912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F5C8A"/>
                </a:solidFill>
                <a:latin typeface="Calibri"/>
              </a:rPr>
              <a:t>0 MW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258568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673"/>
                </a:solidFill>
                <a:latin typeface="Calibri"/>
              </a:rPr>
              <a:t>load shed — fully adequate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8432" y="1417320"/>
            <a:ext cx="3611880" cy="1325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2" y="1417320"/>
            <a:ext cx="109728" cy="1325880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581912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D65A2E"/>
                </a:solidFill>
                <a:latin typeface="Calibri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258568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673"/>
                </a:solidFill>
                <a:latin typeface="Calibri"/>
              </a:rPr>
              <a:t>bus-hours within 0.95–1.05 pu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26080"/>
            <a:ext cx="3611880" cy="1325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926080"/>
            <a:ext cx="109728" cy="1325880"/>
          </a:xfrm>
          <a:prstGeom prst="rect">
            <a:avLst/>
          </a:prstGeom>
          <a:solidFill>
            <a:srgbClr val="5A6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090672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5A6673"/>
                </a:solidFill>
                <a:latin typeface="Calibri"/>
              </a:rPr>
              <a:t>~14%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67328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673"/>
                </a:solidFill>
                <a:latin typeface="Calibri"/>
              </a:rPr>
              <a:t>mean branch loading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88536" y="2926080"/>
            <a:ext cx="3611880" cy="1325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88536" y="2926080"/>
            <a:ext cx="109728" cy="1325880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2856" y="3090672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F5C8A"/>
                </a:solidFill>
                <a:latin typeface="Calibri"/>
              </a:rPr>
              <a:t>~0.3%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3767328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673"/>
                </a:solidFill>
                <a:latin typeface="Calibri"/>
              </a:rPr>
              <a:t>branch-hours congested (&gt;90%)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28432" y="2926080"/>
            <a:ext cx="3611880" cy="1325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28432" y="2926080"/>
            <a:ext cx="109728" cy="13258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3090672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2A9D8F"/>
                </a:solidFill>
                <a:latin typeface="Calibri"/>
              </a:rPr>
              <a:t>~1.9 GW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3767328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673"/>
                </a:solidFill>
                <a:latin typeface="Calibri"/>
              </a:rPr>
              <a:t>average net cross-border imports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754880"/>
            <a:ext cx="110642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102A43"/>
                </a:solidFill>
                <a:latin typeface="Calibri"/>
              </a:rPr>
              <a:t>•  The market chain produces a realistic merit-order dispatch; the AC redispatch makes it physically feasible with minimal intervention.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•  Summer is renewable-rich and cheap; winter leans on gas and costs roughly three times as much per hour.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•  Network mismatch in the summary equals AC losses (≈0.2–1.4 GW, ≤4% of load) — not an imbalance.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463040" cy="91440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D65A2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A market-faithful, network-feasible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4241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0">
                <a:solidFill>
                  <a:srgbClr val="CFDAE5"/>
                </a:solidFill>
                <a:latin typeface="Calibri"/>
              </a:rPr>
              <a:t>•  Day-ahead → intraday gates → balancing → AC OPF redispatch reproduces the Spanish short-term market chain end-to-end.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0">
                <a:solidFill>
                  <a:srgbClr val="CFDAE5"/>
                </a:solidFill>
                <a:latin typeface="Calibri"/>
              </a:rPr>
              <a:t>•  Two contrasting days on the full peninsular grid solve to AC optimality with no load shedding and no voltage violations.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0">
                <a:solidFill>
                  <a:srgbClr val="CFDAE5"/>
                </a:solidFill>
                <a:latin typeface="Calibri"/>
              </a:rPr>
              <a:t>•  All figures reproducible from results_plots.ipynb over the results/ CSVs.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651760"/>
            <a:ext cx="1463040" cy="91440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D65A2E"/>
                </a:solidFill>
                <a:latin typeface="Calibri"/>
              </a:rPr>
              <a:t>PART IV  · 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Investment pathways to 2035 &amp; 2040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690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1">
                <a:solidFill>
                  <a:srgbClr val="B6C4D2"/>
                </a:solidFill>
                <a:latin typeface="Calibri"/>
              </a:rPr>
              <a:t>Capacity-expansion results from OpenEMPIRE — GoRES scenario (1 of 4) — that the operational market-chain analysis will be run on as the next phase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NEXT STEP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From operating today's grid to planning tomorrow's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667512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102A43"/>
                </a:solidFill>
                <a:latin typeface="Calibri"/>
              </a:rPr>
              <a:t>•  What this is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–  A capacity-expansion (investment) optimisation of the European system in OpenEMPIRE, with Spain spatially disaggregated to the same nodal detail used in the operational model.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–  It schedules generation and transmission build-out across three investment periods: 2025–2030, 2030–2035 and 2035–2040.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102A43"/>
                </a:solidFill>
                <a:latin typeface="Calibri"/>
              </a:rPr>
              <a:t>•  The GoRES scenario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–  These figures are one scenario — GoRES — of four that will be studied; each encodes a different trajectory for demand, technology cost and policy.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102A43"/>
                </a:solidFill>
                <a:latin typeface="Calibri"/>
              </a:rPr>
              <a:t>•  Why it matters here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–  The investment model decides what fleet exists in 2035 and 2040; the operational AC OPF market-chain then tests whether that future fleet can actually be dispatched on the network.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D65A2E"/>
                </a:solidFill>
                <a:latin typeface="Calibri"/>
              </a:rPr>
              <a:t>–  Next phase: feed each scenario's 2035 &amp; 2040 portfolio into the day-ahead → intraday → redispatch chain shown earlier.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543800" y="1417320"/>
            <a:ext cx="4069080" cy="46177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1554480"/>
            <a:ext cx="4069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A43"/>
                </a:solidFill>
                <a:latin typeface="Calibri"/>
              </a:rPr>
              <a:t>The two-model workflow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2057400"/>
            <a:ext cx="3429000" cy="749808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2130552"/>
            <a:ext cx="3429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OpenEMPIRE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423160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Investment / capacity expansion
(2030 · 2035 · 2040)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372600" y="2825496"/>
            <a:ext cx="411480" cy="164592"/>
          </a:xfrm>
          <a:prstGeom prst="downArrow">
            <a:avLst/>
          </a:prstGeom>
          <a:solidFill>
            <a:srgbClr val="5A6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3017520"/>
            <a:ext cx="3429000" cy="74980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3090672"/>
            <a:ext cx="3429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Future fleet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383280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Per-node generation &amp;
transmission portfolio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9372600" y="3785616"/>
            <a:ext cx="411480" cy="164592"/>
          </a:xfrm>
          <a:prstGeom prst="downArrow">
            <a:avLst/>
          </a:prstGeom>
          <a:solidFill>
            <a:srgbClr val="5A6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0" y="3977640"/>
            <a:ext cx="3429000" cy="749808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4050792"/>
            <a:ext cx="3429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Market chain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343400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DA → ID2 → ID3 → CID → BAL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9372600" y="4745736"/>
            <a:ext cx="411480" cy="164592"/>
          </a:xfrm>
          <a:prstGeom prst="downArrow">
            <a:avLst/>
          </a:prstGeom>
          <a:solidFill>
            <a:srgbClr val="5A6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4937760"/>
            <a:ext cx="3429000" cy="749808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5010912"/>
            <a:ext cx="3429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AC OPF redispatch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303520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Network-feasible operation
of the future grid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INVESTMENT · GORES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System pathway — capacity &amp; generation to 2040</a:t>
            </a:r>
          </a:p>
        </p:txBody>
      </p:sp>
      <p:pic>
        <p:nvPicPr>
          <p:cNvPr id="6" name="Picture 5" descr="total_installed_capacity_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22869"/>
            <a:ext cx="5532120" cy="33013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266944"/>
            <a:ext cx="5532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02A43"/>
                </a:solidFill>
                <a:latin typeface="Calibri"/>
              </a:rPr>
              <a:t>Installed capacity by technology &amp; period [MW]</a:t>
            </a:r>
          </a:p>
        </p:txBody>
      </p:sp>
      <p:pic>
        <p:nvPicPr>
          <p:cNvPr id="8" name="Picture 7" descr="annual_generation_stack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22869"/>
            <a:ext cx="5532120" cy="33013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72200" y="5266944"/>
            <a:ext cx="5532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02A43"/>
                </a:solidFill>
                <a:latin typeface="Calibri"/>
              </a:rPr>
              <a:t>Annual generation by technology &amp; period [TWh]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1">
                <a:solidFill>
                  <a:srgbClr val="5A6673"/>
                </a:solidFill>
                <a:latin typeface="Calibri"/>
              </a:rPr>
              <a:t>GoRES builds out a strongly renewable system: solar and wind dominate added capacity and energy through 2040, while thermal capacity stays flat-to-declining.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INVESTMENT · SPATIAL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Where capacity is built — nodal portfolios</a:t>
            </a:r>
          </a:p>
        </p:txBody>
      </p:sp>
      <p:pic>
        <p:nvPicPr>
          <p:cNvPr id="6" name="Picture 5" descr="gen_capacity_2030-2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432" y="1280160"/>
            <a:ext cx="4461656" cy="39867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266944"/>
            <a:ext cx="5532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02A43"/>
                </a:solidFill>
                <a:latin typeface="Calibri"/>
              </a:rPr>
              <a:t>Installed capacity by node — 2030–2035</a:t>
            </a:r>
          </a:p>
        </p:txBody>
      </p:sp>
      <p:pic>
        <p:nvPicPr>
          <p:cNvPr id="8" name="Picture 7" descr="gen_capacity_2035-2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432" y="1280160"/>
            <a:ext cx="4461656" cy="39867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72200" y="5266944"/>
            <a:ext cx="5532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02A43"/>
                </a:solidFill>
                <a:latin typeface="Calibri"/>
              </a:rPr>
              <a:t>Installed capacity by node — 2035–2040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1">
                <a:solidFill>
                  <a:srgbClr val="5A6673"/>
                </a:solidFill>
                <a:latin typeface="Calibri"/>
              </a:rPr>
              <a:t>Spain is resolved to full nodal detail (rest of Europe aggregated). Pie size = installed MW, colour = technology; lines are transmission capacity between nodes.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INVESTMENT · CAPACITY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Renewable build-out by node and period</a:t>
            </a:r>
          </a:p>
        </p:txBody>
      </p:sp>
      <p:pic>
        <p:nvPicPr>
          <p:cNvPr id="6" name="Picture 5" descr="cap_bars_renew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18030"/>
            <a:ext cx="2674620" cy="24596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61304"/>
            <a:ext cx="26746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02A43"/>
                </a:solidFill>
                <a:latin typeface="Calibri"/>
              </a:rPr>
              <a:t>All renewables</a:t>
            </a:r>
          </a:p>
        </p:txBody>
      </p:sp>
      <p:pic>
        <p:nvPicPr>
          <p:cNvPr id="8" name="Picture 7" descr="cap_bars_so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00" y="2318030"/>
            <a:ext cx="2674620" cy="245968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14700" y="5861304"/>
            <a:ext cx="26746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02A43"/>
                </a:solidFill>
                <a:latin typeface="Calibri"/>
              </a:rPr>
              <a:t>Solar</a:t>
            </a:r>
          </a:p>
        </p:txBody>
      </p:sp>
      <p:pic>
        <p:nvPicPr>
          <p:cNvPr id="10" name="Picture 9" descr="cap_bars_wi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318030"/>
            <a:ext cx="2674620" cy="245968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72200" y="5861304"/>
            <a:ext cx="26746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02A43"/>
                </a:solidFill>
                <a:latin typeface="Calibri"/>
              </a:rPr>
              <a:t>Wind</a:t>
            </a:r>
          </a:p>
        </p:txBody>
      </p:sp>
      <p:pic>
        <p:nvPicPr>
          <p:cNvPr id="12" name="Picture 11" descr="cap_bars_hyd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0" y="2326163"/>
            <a:ext cx="2674620" cy="244341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29700" y="5861304"/>
            <a:ext cx="26746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02A43"/>
                </a:solidFill>
                <a:latin typeface="Calibri"/>
              </a:rPr>
              <a:t>Hydro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 i="1">
                <a:solidFill>
                  <a:srgbClr val="5A6673"/>
                </a:solidFill>
                <a:latin typeface="Calibri"/>
              </a:rPr>
              <a:t>Per-node installed capacity; the three bars per node are the 2025–30, 2030–35 and 2035–40 periods.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INVESTMENT ·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Net capacity change by node, 2025–30 → 2035–40</a:t>
            </a:r>
          </a:p>
        </p:txBody>
      </p:sp>
      <p:pic>
        <p:nvPicPr>
          <p:cNvPr id="6" name="Picture 5" descr="capacity_change_renewable_gen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52897"/>
            <a:ext cx="2674620" cy="23899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61304"/>
            <a:ext cx="26746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02A43"/>
                </a:solidFill>
                <a:latin typeface="Calibri"/>
              </a:rPr>
              <a:t>Renewable generation</a:t>
            </a:r>
          </a:p>
        </p:txBody>
      </p:sp>
      <p:pic>
        <p:nvPicPr>
          <p:cNvPr id="8" name="Picture 7" descr="capacity_change_wind_and_so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00" y="2352897"/>
            <a:ext cx="2674620" cy="23899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14700" y="5861304"/>
            <a:ext cx="26746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02A43"/>
                </a:solidFill>
                <a:latin typeface="Calibri"/>
              </a:rPr>
              <a:t>Wind &amp; solar</a:t>
            </a:r>
          </a:p>
        </p:txBody>
      </p:sp>
      <p:pic>
        <p:nvPicPr>
          <p:cNvPr id="10" name="Picture 9" descr="capacity_change_thermal_generation_including_nucl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352897"/>
            <a:ext cx="2674620" cy="23899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72200" y="5861304"/>
            <a:ext cx="26746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02A43"/>
                </a:solidFill>
                <a:latin typeface="Calibri"/>
              </a:rPr>
              <a:t>Thermal (incl. nuclear)</a:t>
            </a:r>
          </a:p>
        </p:txBody>
      </p:sp>
      <p:pic>
        <p:nvPicPr>
          <p:cNvPr id="12" name="Picture 11" descr="capacity_change_hyd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0" y="2352897"/>
            <a:ext cx="2674620" cy="238994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29700" y="5861304"/>
            <a:ext cx="26746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02A43"/>
                </a:solidFill>
                <a:latin typeface="Calibri"/>
              </a:rPr>
              <a:t>Hydro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 i="1">
                <a:solidFill>
                  <a:srgbClr val="5A6673"/>
                </a:solidFill>
                <a:latin typeface="Calibri"/>
              </a:rPr>
              <a:t>Green = capacity increase, red = decrease per node. Renewables grow across Spain while thermal is retired.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INVESTMENT ·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Transmission reinforcement</a:t>
            </a:r>
          </a:p>
        </p:txBody>
      </p:sp>
      <p:pic>
        <p:nvPicPr>
          <p:cNvPr id="6" name="Picture 5" descr="transmission_capacity_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095" y="1280160"/>
            <a:ext cx="5668849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138160" y="1417320"/>
            <a:ext cx="3642055" cy="4754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554480"/>
            <a:ext cx="3276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D65A2E"/>
                </a:solidFill>
                <a:latin typeface="Calibri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057400"/>
            <a:ext cx="327629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Capacity change per transmission link between 2025–30 and 2035–40.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Green = reinforcement (increase); link thickness scales with the added MW.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Strong cross-border and internal-Spain reinforcement underpins the renewable build-out.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D65A2E"/>
                </a:solidFill>
                <a:latin typeface="Calibri"/>
              </a:rPr>
              <a:t>•  These line ratings become the network limits the operational AC OPF must respect.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554480"/>
            <a:ext cx="1463040" cy="91440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D65A2E"/>
                </a:solidFill>
                <a:latin typeface="Calibri"/>
              </a:rPr>
              <a:t>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Coupling investment and 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104241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0">
                <a:solidFill>
                  <a:srgbClr val="CFDAE5"/>
                </a:solidFill>
                <a:latin typeface="Calibri"/>
              </a:rPr>
              <a:t>•  OpenEMPIRE sets the 2035 &amp; 2040 generation and transmission portfolios for the GoRES scenario.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0">
                <a:solidFill>
                  <a:srgbClr val="CFDAE5"/>
                </a:solidFill>
                <a:latin typeface="Calibri"/>
              </a:rPr>
              <a:t>•  Next: run the day-ahead → intraday → AC OPF redispatch chain on those future fleets to test network feasibility, congestion, reactive adequacy and prices.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0">
                <a:solidFill>
                  <a:srgbClr val="CFDAE5"/>
                </a:solidFill>
                <a:latin typeface="Calibri"/>
              </a:rPr>
              <a:t>•  Repeat across all four scenarios to compare how robustly each investment pathway can actually be operated on the Spanish grid.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1">
                <a:solidFill>
                  <a:srgbClr val="8A98A6"/>
                </a:solidFill>
                <a:latin typeface="Calibri"/>
              </a:rPr>
              <a:t>Investment figures: OpenEMPIRE — dataset_ES_GoRES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