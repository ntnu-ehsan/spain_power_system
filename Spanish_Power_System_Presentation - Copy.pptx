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0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SHORT-TERM ELECTRICITY MARKET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The Spanish Power System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200" b="0" i="1">
                <a:solidFill>
                  <a:srgbClr val="C7D4E0"/>
                </a:solidFill>
                <a:latin typeface="Calibri"/>
              </a:rPr>
              <a:t>A multi-stage market chain feeding an AC optimal power flow redispatch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Model  ·  Case study  ·  Results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AEB9C4"/>
                </a:solidFill>
                <a:latin typeface="Calibri"/>
              </a:rPr>
              <a:t>Peninsular transmission grid — 1,236 buses · 2,345 branches · 2,035 generating units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AEB9C4"/>
                </a:solidFill>
                <a:latin typeface="Calibri"/>
              </a:rPr>
              <a:t>Two representative days: 8 July 2024 (summer) and 2 December 2024 (winter)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98A6"/>
                </a:solidFill>
                <a:latin typeface="Calibri"/>
              </a:rPr>
              <a:t>Generated from results_plots.ipynb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356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The model — a multi-stage short-term market chain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Day-ahead clearing → three intraday gates → AC OPF redispatch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00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The case — the Spanish peninsular grid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Full transmission network, two contrasting demand days, cross-border 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644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Methodology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Copper-plate economic dispatch, Bellman-coupled hydro, AC redispatch with reactive realism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788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Dispatch results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Fuel mix, merit order, capacity utilisation, hourly profiles, system prices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502920" cy="77724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9320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Network &amp; reactive results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Branch loading &amp; congestion, voltage profile, reactive procurement, 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>
                <a:solidFill>
                  <a:srgbClr val="B6C4D2"/>
                </a:solidFill>
                <a:latin typeface="Calibri"/>
              </a:rPr>
              <a:t>A multi-stage representation of the short-term electricity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market chain, not a single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Real electricity markets clear in sequential stages. The model reproduces that chain: a day-ahead schedule is progressively revised by intraday gates, then made physically feasible on the AC network by a redispatch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993392" cy="137160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DAY-AHEAD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52928"/>
            <a:ext cx="1993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Copper-plate
economic dispatch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05456" y="2788920"/>
            <a:ext cx="256032" cy="365760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632" y="2286000"/>
            <a:ext cx="1993392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450592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852928"/>
            <a:ext cx="1993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Intraday
adjustment 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73168" y="2788920"/>
            <a:ext cx="256032" cy="365760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8344" y="2286000"/>
            <a:ext cx="1993392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2450592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852928"/>
            <a:ext cx="1993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Intraday gate
(hours 12–23)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40880" y="2788920"/>
            <a:ext cx="256032" cy="365760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06056" y="2286000"/>
            <a:ext cx="1993392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6056" y="2450592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852928"/>
            <a:ext cx="1993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Continuous
intraday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08592" y="2788920"/>
            <a:ext cx="256032" cy="365760"/>
          </a:xfrm>
          <a:prstGeom prst="rightArrow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73768" y="2286000"/>
            <a:ext cx="1993392" cy="137160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2450592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852928"/>
            <a:ext cx="1993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AC OPF on the
real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84048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5A6673"/>
                </a:solidFill>
                <a:latin typeface="Calibri"/>
              </a:rPr>
              <a:t>Each stage hands its schedule to the next as a warm-start / anchor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Stages 1–4 are copper-plate (system-wide power balance only, no network) and share one Bellman-coupled 24-hour formulation — they differ only in the demand scaling and what is frozen.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Intraday gates are adjustment markets: they re-clear cost first, then minimise total movement from the previous schedule (lexicographic tie-break) so units only move when there is a real reason.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The final stage is a full AC optimal power flow that enforces the physical grid — line ratings, voltages and reactive power — by redispatching only the units that are allowed to move.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DAY-AHEAD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Stage 1 — Day-ahead economic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76656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102A43"/>
                </a:solidFill>
                <a:latin typeface="Calibri"/>
              </a:rPr>
              <a:t>•  Copper-plate dispatch over all 24 hours at once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One system-wide balance per hour:  Σ generation = Σ load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No network, voltage or reactive constraints at this stage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102A43"/>
                </a:solidFill>
                <a:latin typeface="Calibri"/>
              </a:rPr>
              <a:t>•  Reservoir hydro coupled across the day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Full Bellman cost-to-go (water value) links the 24 hours so stored water is allocated to the most valuable hours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Cost of reservoir output comes entirely from the future-value term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102A43"/>
                </a:solidFill>
                <a:latin typeface="Calibri"/>
              </a:rPr>
              <a:t>•  Merit-order clearing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Zero-cost renewables (wind, solar, run-of-river) dispatched first, then nuclear, hydro, gas …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–  Cross-border imports enter as fixed injections; slack &amp; load-shed units stand by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D65A2E"/>
                </a:solidFill>
                <a:latin typeface="Calibri"/>
              </a:rPr>
              <a:t>•  Solves as a linear program in ~1–5 s per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417320"/>
            <a:ext cx="402336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417320"/>
            <a:ext cx="402336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Objective (per 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148840"/>
            <a:ext cx="3611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min   Σₕ Σ_g  c_g · p_{g,h}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            +  θ_future(water)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5A6673"/>
                </a:solidFill>
                <a:latin typeface="Calibri"/>
              </a:rPr>
              <a:t>subject 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Σ_g p_{g,h}  =  load_h      ∀h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p_g^min ≤ p_{g,h} ≤ p_g^max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reservoir storage balance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   + Bellman value cuts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1">
                <a:solidFill>
                  <a:srgbClr val="5A6673"/>
                </a:solidFill>
                <a:latin typeface="Calibri"/>
              </a:rPr>
              <a:t>Output → day-ahead schedule,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1">
                <a:solidFill>
                  <a:srgbClr val="5A6673"/>
                </a:solidFill>
                <a:latin typeface="Calibri"/>
              </a:rPr>
              <a:t>the anchor for the intraday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INTRADAY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Stages 2–4 — Intraday adjustment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The intraday gates (ID2 → ID3 → CID) refine the day-ahead schedule as the demand forecast is updated. Each gate is an adjustment market solved lexicographically, not a fresh clearing.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21208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Step 1 — minimise dispatch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Re-clear the merit order for the updated demand — cheapest feasible units, as in any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48840"/>
            <a:ext cx="521208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Step 2 — minimise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5A6673"/>
                </a:solidFill>
                <a:latin typeface="Calibri"/>
              </a:rPr>
              <a:t>Among all cost-optimal solutions, pick the one closest to the previous gate: min Σ (Δ↑ + Δ↓). Removes cost-degenerate reshuffles that move units for no net reason.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Anchoring chain:  ID2 anchors to day-ahead;  ID3 retrades only hours 12–23 (0–11 carry over);  CID rolls gate-by-gate, anchoring each hour to the latest market view.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Nuclear is frozen at its day-ahead value from ID2 onward (baseload does not chase intraday signals).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All gates reuse the same Bellman-coupled 24-hour reservoir formulation as the day-ahead stage.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D65A2E"/>
                </a:solidFill>
                <a:latin typeface="Calibri"/>
              </a:rPr>
              <a:t>•  The CID schedule is the realised market dispatch that the AC redispatch must make grid-feasible.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REDISPATCH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Stage 5 — AC OPF redispatch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858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Full non-linear AC optimal power flow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Enforces the real grid: line thermal ratings, bus voltage band, and AC power-balance (active + reactive) at every bus.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Warm-started from the CID market schedule; objective keeps the dispatch as close to it as possible while restoring feasibility.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Who can move?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Frozen at market value:  Nuclear, run-of-river Hydro, Biomass (pmin = pmax).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Free to redispatch:  Gas, Coal, Oil, reservoir &amp; pumped hydro, and curtailable Wind / Solar.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Reactive &amp; voltage realism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–  Shunt reactors (REE fleet), full π-model line charging, per-fuel generator reactive capability, and an AVR voltage band.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D65A2E"/>
                </a:solidFill>
                <a:latin typeface="Calibri"/>
              </a:rPr>
              <a:t>•  Solved with Ipopt + HSL/MA57 — every hour reaches a locally optimal AC 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3977639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417320"/>
            <a:ext cx="3977639" cy="50292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417320"/>
            <a:ext cx="3977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Redispatch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48840"/>
            <a:ext cx="35661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min   base cost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   +  w · Σ (P_g − P_g^CID)²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5A6673"/>
                </a:solidFill>
                <a:latin typeface="Calibri"/>
              </a:rPr>
              <a:t>subject 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AC power balance  (P &amp; Q)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|S_line| ≤ rating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0.95 ≤ V ≤ 1.05 pu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gen P–Q capability limits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frozen units:  P = P^CID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5A6673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w = anchor weight tying the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solution to the market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MODEL · AC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Methodology deep-dive — a physically realistic AC OPF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A pure loss-minimising AC OPF is physically naïve: it pushes reactive power onto generators and rails almost every bus up to the upper voltage limit. Four mechanisms — each calibrated to the real Spanish grid — restore realistic reactive flows and voltages.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8872" cy="1783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9631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1 · Line charging (π-model)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9008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Every AC line is a full π-model. ~48,000 km of EHV generate ≈21 GVAr of charging at 1.0 pu (≈17 GVAr from 400 kV alone) that must be absorbed.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331720"/>
            <a:ext cx="118872" cy="178308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49631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F5C8A"/>
                </a:solidFill>
                <a:latin typeface="Calibri"/>
              </a:rPr>
              <a:t>2 · Shunt reactors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99008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REE's installed peninsular reactor fleet (15.5 GVAr) is placed on buses to soak up that charging — exactly what the real operator does.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15968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15968"/>
            <a:ext cx="118872" cy="178308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805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3 · Generator reactive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974336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Technology-specific P–Q limits: a capability circle for synchronous machines, a grid-code cap for inverter-based wind &amp; solar.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315968"/>
            <a:ext cx="544068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315968"/>
            <a:ext cx="118872" cy="17830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44805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4 · AVR voltage 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974336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Synchronous machines hold their bus to an AVR setpoint near nominal, pulling the voltage profile off the upper 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METHODOLOGY · REACTORS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Shunt reactors — compensating EHV line charging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102A43"/>
                </a:solidFill>
                <a:latin typeface="Calibri"/>
              </a:rPr>
              <a:t>•  The problem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Every line is a full π-model with charging susceptance. Across ~48,000 km of 400/220 kV this generates ≈21 GVAr at nominal voltage (≈17 GVAr from 400 kV alone).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With nothing to absorb it, the OPF dumps that reactive onto generators and voltages ride the upper band — physically the job of shunt reactors.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Modelled as proper shunt elements with negative susceptance (bs &lt; 0, inductive). PowerModels ignores bus-level bs, so they must live in the shunt component.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102A43"/>
                </a:solidFill>
                <a:latin typeface="Calibri"/>
              </a:rPr>
              <a:t>•  Disaggregation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The aggregate fleet is spread to buses in proportion to the AC line charging connected at each bus, within each voltage group (400 kV vs ≤220 kV).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–  Per-bus result cached in Data/reactors.csv — fixed and reproducible across runs.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D65A2E"/>
                </a:solidFill>
                <a:latin typeface="Calibri"/>
              </a:rPr>
              <a:t>–  Config knob  in_service_pct  scales the energised fraction — emulating switched reactors without turning the AC OPF into a mixed-integer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32588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A43"/>
                </a:solidFill>
                <a:latin typeface="Calibri"/>
              </a:rPr>
              <a:t>Installed peninsular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673352"/>
            <a:ext cx="4160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A6673"/>
                </a:solidFill>
                <a:latin typeface="Calibri"/>
              </a:rPr>
              <a:t>REE Boletín Mensual, diciembre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103120"/>
            <a:ext cx="416052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210312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Voltage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0312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Installed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210312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606040"/>
            <a:ext cx="416052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60604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400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0604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11,750 MVAr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260604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3108960"/>
            <a:ext cx="4160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310896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≤ 220 kV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3,722 MVAr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310896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3611880"/>
            <a:ext cx="416052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3611880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Peninsular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6118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15,472 MVAr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361188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224528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5A6673"/>
                </a:solidFill>
                <a:latin typeface="Calibri"/>
              </a:rPr>
              <a:t>≈ 80% of the EHV line charging is compensated — consistent with the standard EHV planning rule. Balearic &amp; Canary systems excluded (non-synchronous).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5166360"/>
            <a:ext cx="4160520" cy="1143000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5166360"/>
            <a:ext cx="4160520" cy="384048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5166360"/>
            <a:ext cx="3886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config.toml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5669280"/>
            <a:ext cx="3831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[reactors]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enabled        = true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in_service_pct = 100.0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METHODOLOGY ·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Generator reactive capability — per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Reactive limits are technology-specific and enforced in every redispatch stage (hour-by-hour anchored solves and the Bellman-coupled multi-hour solve).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40680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40680" cy="50292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Synchronous machines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Nuclear · Gas · Coal · Oil · Biomass · Hydro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80360"/>
            <a:ext cx="49834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2"/>
            <a:ext cx="4983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P² + Q²  ≤  S_rated²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D65A2E"/>
                </a:solidFill>
                <a:latin typeface="Calibri"/>
              </a:rPr>
              <a:t>S_rated = installed MVA / 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An apparent-power capability circle, sized on installed nameplate MVA.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 machine's MVA rating is fixed regardless of output, so it can supply reactive even at low MW.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Convex (second-order cone) → Ipopt solves it as an NLP. Replaces the old ±Pmax box that allowed PF 0.707 at full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440680" cy="3703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5440680" cy="50292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874519"/>
            <a:ext cx="5440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Inverter-based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871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5A6673"/>
                </a:solidFill>
                <a:latin typeface="Calibri"/>
              </a:rPr>
              <a:t>Wind · Solar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880360"/>
            <a:ext cx="49834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4983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|Q|  ≤  tan(acos(0.95)) · 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 grid-code reactive cap tied to actual output, not nameplate.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Sizing on actual P stops a heavily-derated farm (e.g. 38 of 100 MW) parking at a very low PF.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0">
                <a:solidFill>
                  <a:srgbClr val="222A33"/>
                </a:solidFill>
                <a:latin typeface="Calibri"/>
              </a:rPr>
              <a:t>•  An installed-MVA circle for renewables gave low-availability farms huge reactive headroom — the per-fuel split is what fixes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42432"/>
            <a:ext cx="11064240" cy="603504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742432"/>
            <a:ext cx="11064240" cy="384048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42432"/>
            <a:ext cx="10789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config.toml  [generators]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245352"/>
            <a:ext cx="10735056" cy="-36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apparent_power_limit = true     rated_power_factor = 0.90     renewable_power_factor = 0.95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METHODOLOGY ·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Voltage realism — load reactive &amp; AVR regulation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40680" cy="2240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Load reactive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D65A2E"/>
                </a:solidFill>
                <a:latin typeface="Consolas"/>
              </a:rPr>
              <a:t>qd = pd · tan(acos(power_factor))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power_factor is the net PF the transmission grid sees; distribution-level correction is assumed already applied below the model boundary.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Default 1.0 ⇒ active-only load, leaving all the line charging for the reactors to absorb; a lower PF lets the load soak up much of it (~11.5 GVAr at 0.95). Tune with reactors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440680" cy="2240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AVR voltage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9834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A loss-minimising OPF rails voltages to vmax (higher V ⇒ lower current ⇒ lower losses).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Real synchronous machines are AVR-regulated to a setpoint: AVR buses (slack + synchronous-hosting) are held to a tight 0.98–1.03 band.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222A33"/>
                </a:solidFill>
                <a:latin typeface="Calibri"/>
              </a:rPr>
              <a:t>•  Renewable-only &amp; load buses keep the wider ±0.05 — a derated farm can't firmly hold a setpoint.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64240" cy="13716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Effect on the profile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AEB9C4"/>
                </a:solidFill>
                <a:latin typeface="Calibri"/>
              </a:rPr>
              <a:t>full fleet, 48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58768"/>
            <a:ext cx="3108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C7D4E0"/>
                </a:solidFill>
                <a:latin typeface="Calibri"/>
              </a:rPr>
              <a:t>Mean bus voltage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1.037 → 1.023 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858768"/>
            <a:ext cx="3291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C7D4E0"/>
                </a:solidFill>
                <a:latin typeface="Calibri"/>
              </a:rPr>
              <a:t>Buses sitting at vmax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7.8% → 0.9%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1B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257800"/>
            <a:ext cx="11064240" cy="384048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10789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config.toml  [network]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60720"/>
            <a:ext cx="107350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voltage_band = 0.05     gen_bus_voltage_control = true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8BE9C4"/>
                </a:solidFill>
                <a:latin typeface="Consolas"/>
              </a:rPr>
              <a:t>gen_bus_vmin = 0.98     gen_bus_vmax = 1.03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>
                <a:solidFill>
                  <a:srgbClr val="B6C4D2"/>
                </a:solidFill>
                <a:latin typeface="Calibri"/>
              </a:rPr>
              <a:t>The Spanish peninsular transmission system on two contrasting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CASE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Spanish peninsular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1,236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371600"/>
            <a:ext cx="2697480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2,345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AC branches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371600"/>
            <a:ext cx="2697480" cy="137160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2,035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generating units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7696" y="1371600"/>
            <a:ext cx="2697480" cy="1371600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481328"/>
            <a:ext cx="2697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286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hourly snapshots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Geographic transmission model of peninsular Spain at 400 / 220 / 132 kV and below, built from REE network data — every line is a full π-model with charging susceptance.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EHV scale: ~48,000 km of lines carry roughly 21 GVAr of line charging at 1.0 pu (≈17 GVAr from the 400 kV layer alone) — reactive management is a first-order concern.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Shunt reactors from the REE December-2024 fleet (≈11.75 GVAr at 400 kV, ≈3.72 GVAr at ≤220 kV) are placed on buses in proportion to connected line charging.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222A33"/>
                </a:solidFill>
                <a:latin typeface="Calibri"/>
              </a:rPr>
              <a:t>•  Cross-border AC ties to France and Portugal (13 lines, no HVDC) inject the market-cleared exchange as fixed boundary injections — ~1.9 GW of net imports on average.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CASE ·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Two representative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38328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1417320"/>
            <a:ext cx="3566160" cy="566928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1417320"/>
            <a:ext cx="3566160" cy="566928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Attribute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41732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 July 2024  ·  summer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1732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December 2024  ·  winter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984248"/>
            <a:ext cx="10515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8424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Season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8424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Summer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8424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Winter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551176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551176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Peak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55117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39.4 GW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5117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33.9 GW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118104"/>
            <a:ext cx="10515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18104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Minimum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11810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21.3 GW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11810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21.4 GW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685032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685032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Avg. system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68503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≈ 147 k€/h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68503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≈ 464 k€/h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25196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Dominant flexibility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25196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Solar midday peak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25196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Gas-heavy evenings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818888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1888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02A43"/>
                </a:solidFill>
                <a:latin typeface="Calibri"/>
              </a:rPr>
              <a:t>Hours solved (AC)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81888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24 /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81888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24 / 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22976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5A6673"/>
                </a:solidFill>
                <a:latin typeface="Calibri"/>
              </a:rPr>
              <a:t>Two days chosen to bracket the system: a high-renewable summer day with a pronounced solar peak, and a tighter winter day where thermal generation carries the evening — driving the ≈3× higher system cost.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>
                <a:solidFill>
                  <a:srgbClr val="B6C4D2"/>
                </a:solidFill>
                <a:latin typeface="Calibri"/>
              </a:rPr>
              <a:t>Dispatch, prices, network loading, voltages and reactive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Generation mix &amp; average dispatch</a:t>
            </a:r>
          </a:p>
        </p:txBody>
      </p:sp>
      <p:pic>
        <p:nvPicPr>
          <p:cNvPr id="6" name="Picture 5" descr="fuel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7282"/>
            <a:ext cx="7315200" cy="42749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Hydro is the workhorse of both days (≈10 GW average), followed by solar (≈6.7 GW) and nuclear baseload (≈5.7 GW).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Wind contributes ≈4.9 GW on average; gas (≈1.4 GW) fills the residual and sets the price at the margin.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Coal and oil sit essentially idle — pushed out of the merit order by cheap renewables and hydro.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Installed capacity vs. utilisation</a:t>
            </a:r>
          </a:p>
        </p:txBody>
      </p:sp>
      <p:pic>
        <p:nvPicPr>
          <p:cNvPr id="6" name="Picture 5" descr="capacity_vs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7677"/>
            <a:ext cx="7315200" cy="44741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Gas has the largest installed fleet (≈28 GW) but runs at low utilisation — a peaking / balancing role.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Solar (33 GW) and wind (30 GW) dominate capacity; their average output reflects availability, not scarcity.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Nuclear runs close to its ≈7.4 GW nameplate — the firm baseload of the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Merit order — dispatch vs. marginal cost</a:t>
            </a:r>
          </a:p>
        </p:txBody>
      </p:sp>
      <p:pic>
        <p:nvPicPr>
          <p:cNvPr id="6" name="Picture 5" descr="merit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6147"/>
            <a:ext cx="7315200" cy="42772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Zero-marginal-cost renewables and hydro are dispatched first and carry the bulk of the energy.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Dispatch falls away as marginal cost rises — the classic merit-order staircase.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Gas units cluster at the expensive, lightly-loaded end: on only when the grid needs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Top dispatched generators</a:t>
            </a:r>
          </a:p>
        </p:txBody>
      </p:sp>
      <p:pic>
        <p:nvPicPr>
          <p:cNvPr id="6" name="Picture 5" descr="top_gen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0" y="1325880"/>
            <a:ext cx="6511399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69480" y="1417320"/>
            <a:ext cx="451073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554480"/>
            <a:ext cx="4144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57400"/>
            <a:ext cx="414497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most-dispatched units are large hydro and nuclear stations running near capacity.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High average utilisation among the top units confirms a stable, baseload-anchored dispatch.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No single thermal unit dominates — flexibility is spread across the gas fleet.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Hourly generation mix — both days</a:t>
            </a:r>
          </a:p>
        </p:txBody>
      </p:sp>
      <p:pic>
        <p:nvPicPr>
          <p:cNvPr id="6" name="Picture 5" descr="hourly_genera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6260"/>
            <a:ext cx="7680960" cy="393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Summer (left): a strong midday solar bulge displaces gas and even backs nuclear down at the peak.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Winter (right): no solar shoulder — hydro and gas shape the evening ramp, lifting system cost.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Demand is met in every hour of both days with the real fleet (post-redispatch).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Hourly system cost &amp; price</a:t>
            </a:r>
          </a:p>
        </p:txBody>
      </p:sp>
      <p:pic>
        <p:nvPicPr>
          <p:cNvPr id="6" name="Picture 5" descr="hourly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9306"/>
            <a:ext cx="7680960" cy="47309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System price tracks the marginal technology: low when solar/hydro clear, high in thermal-heavy hours.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winter day is markedly more expensive (≈464 k€/h vs ≈147 k€/h average) — more gas at the margin.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Price peaks align with the morning and evening demand ramps.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Hour-to-hour dispatch changes</a:t>
            </a:r>
          </a:p>
        </p:txBody>
      </p:sp>
      <p:pic>
        <p:nvPicPr>
          <p:cNvPr id="6" name="Picture 5" descr="hourly_dispatch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058"/>
            <a:ext cx="7863840" cy="36034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417320"/>
            <a:ext cx="323057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554480"/>
            <a:ext cx="2864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8648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Bars show each technology's hour-on-hour change; the line is the net load change.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Hydro and gas provide the bulk of the ramping flexibility, mirroring the demand curve.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Solar swings drive the largest mid-day movements on the summer 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ADEQUACY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Slack-bus generation — capacity adequacy</a:t>
            </a:r>
          </a:p>
        </p:txBody>
      </p:sp>
      <p:pic>
        <p:nvPicPr>
          <p:cNvPr id="6" name="Picture 5" descr="slack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3920"/>
            <a:ext cx="7680960" cy="348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slack unit (priced at 1,000× base) only runs if the real fleet cannot meet demand.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Dispatch stays negligible across all 48 hours — no genuine capacity shortfall.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Confirms the modelled fleet plus imports is adequate for both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Branch loading &amp; congestion</a:t>
            </a:r>
          </a:p>
        </p:txBody>
      </p:sp>
      <p:pic>
        <p:nvPicPr>
          <p:cNvPr id="6" name="Picture 5" descr="branch_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3579"/>
            <a:ext cx="7863840" cy="34423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417320"/>
            <a:ext cx="323057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554480"/>
            <a:ext cx="2864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8648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Across 48 hours and 2,345 branches, mean loading is only ≈14% — the grid is lightly loaded on average.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Just ≈0.3% of branch-hours exceed 90% loading; congestion is rare and localised.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A handful of branches are persistently the binding constraints that the redispatch works around.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Bus voltage profile</a:t>
            </a:r>
          </a:p>
        </p:txBody>
      </p:sp>
      <p:pic>
        <p:nvPicPr>
          <p:cNvPr id="6" name="Picture 5" descr="voltag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1050"/>
            <a:ext cx="7680960" cy="33274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Every bus in every hour stays inside the 0.95–1.05 pu band — no violations.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Mean voltage ≈1.024 pu: the AC OPF holds a healthy, slightly-high profile.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Reactor switching and reactive procurement keep EHV charging in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Voltage map — mean &amp; worst-case</a:t>
            </a:r>
          </a:p>
        </p:txBody>
      </p:sp>
      <p:pic>
        <p:nvPicPr>
          <p:cNvPr id="6" name="Picture 5" descr="bus_voltag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2719"/>
            <a:ext cx="7955279" cy="35440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41079" y="1417320"/>
            <a:ext cx="3139136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59" y="1554480"/>
            <a:ext cx="2773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59" y="2057400"/>
            <a:ext cx="277337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Left: mean voltage per bus; right: worst-case minimum across all solved hours.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Voltages stay comfortably within limits across the whole peninsula.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No regional pocket drops below 0.95 pu even in the worst hour.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Reactive power procurement</a:t>
            </a:r>
          </a:p>
        </p:txBody>
      </p:sp>
      <p:pic>
        <p:nvPicPr>
          <p:cNvPr id="6" name="Picture 5" descr="reactive_proc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9352"/>
            <a:ext cx="7315200" cy="30108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Synchronous hydro and gas units supply most of the reactive support, within their P–Q capability circles.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Inverter-based wind and solar contribute bounded reactive tied to their actual output.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Per-fuel power factors stay realistic — no unit is pushed to an implausible operating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Reactive branch flows</a:t>
            </a:r>
          </a:p>
        </p:txBody>
      </p:sp>
      <p:pic>
        <p:nvPicPr>
          <p:cNvPr id="6" name="Picture 5" descr="reactive_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5396"/>
            <a:ext cx="7315200" cy="31587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417320"/>
            <a:ext cx="377921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057400"/>
            <a:ext cx="341345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Most branches carry predominantly active power (high power factor) — the intended design point.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Reactive flows concentrate where line charging and reactor compensation interact.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The π-model line charging and shunt reactors net out to a stable reactive 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RESULTS · ADEQUACY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Feasibility &amp; load shedding</a:t>
            </a:r>
          </a:p>
        </p:txBody>
      </p:sp>
      <p:pic>
        <p:nvPicPr>
          <p:cNvPr id="6" name="Picture 5" descr="load_shedding_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1537"/>
            <a:ext cx="7680960" cy="43664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17320"/>
            <a:ext cx="3413455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3047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D65A2E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304769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A load-shedding unit (Value of Lost Load = 10,000 €/MWh) sits at every load bus as a safety valve.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Zero load shedding was dispatched across all 48 hours.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222A33"/>
                </a:solidFill>
                <a:latin typeface="Calibri"/>
              </a:rPr>
              <a:t>•  Raising the line-rating factor from 70% to 80% was enough to make every hour AC-feasible.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65A2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Results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" cy="1325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"/>
              </a:rPr>
              <a:t>48 /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hours solved to AC optimality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41732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417320"/>
            <a:ext cx="109728" cy="132588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58191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F5C8A"/>
                </a:solidFill>
                <a:latin typeface="Calibri"/>
              </a:rPr>
              <a:t>0 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25856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load shed — fully adequate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141732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2" y="1417320"/>
            <a:ext cx="109728" cy="132588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8191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D65A2E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5856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bus-hours within 0.95–1.05 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109728" cy="1325880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5A6673"/>
                </a:solidFill>
                <a:latin typeface="Calibri"/>
              </a:rPr>
              <a:t>~14%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mean branch loading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292608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2926080"/>
            <a:ext cx="109728" cy="1325880"/>
          </a:xfrm>
          <a:prstGeom prst="rect">
            <a:avLst/>
          </a:prstGeom>
          <a:solidFill>
            <a:srgbClr val="1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F5C8A"/>
                </a:solidFill>
                <a:latin typeface="Calibri"/>
              </a:rPr>
              <a:t>~0.3%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376732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branch-hours congested (&gt;90%)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2" y="2926080"/>
            <a:ext cx="361188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2" y="2926080"/>
            <a:ext cx="109728" cy="1325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"/>
              </a:rPr>
              <a:t>~1.9 GW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76732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673"/>
                </a:solidFill>
                <a:latin typeface="Calibri"/>
              </a:rPr>
              <a:t>average net cross-border imports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02A43"/>
                </a:solidFill>
                <a:latin typeface="Calibri"/>
              </a:rPr>
              <a:t>•  The market chain produces a realistic merit-order dispatch; the AC redispatch makes it physically feasible with minimal intervention.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Summer is renewable-rich and cheap; winter leans on gas and costs roughly three times as much per hour.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•  Network mismatch in the summary equals AC losses (≈0.2–1.4 GW, ≤4% of load) — not an imbalance.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Spanish Power System  ·  Market-Chain + AC OPF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67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0" cy="91440"/>
          </a:xfrm>
          <a:prstGeom prst="rect">
            <a:avLst/>
          </a:prstGeom>
          <a:solidFill>
            <a:srgbClr val="D6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D65A2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 market-faithful, network-feasible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Day-ahead → intraday gates → AC OPF redispatch reproduces the Spanish short-term market chain end-to-end.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Two contrasting days on the full peninsular grid solve to AC optimality with no load shedding and no voltage violations.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CFDAE5"/>
                </a:solidFill>
                <a:latin typeface="Calibri"/>
              </a:rPr>
              <a:t>•  All figures reproducible from results_plots.ipynb over the results/ CSVs.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