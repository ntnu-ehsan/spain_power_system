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0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D65A2E"/>
                </a:solidFill>
                <a:latin typeface="Calibri"/>
              </a:rPr>
              <a:t>2035 CASE STUDY  ·  INVESTMENT-TO-OPERATION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FFFFFF"/>
                </a:solidFill>
                <a:latin typeface="Calibri"/>
              </a:rPr>
              <a:t>The Spanish Power System in 2035</a:t>
            </a:r>
          </a:p>
          <a:p>
            <a:pPr algn="l">
              <a:spcBef>
                <a:spcPts val="0"/>
              </a:spcBef>
            </a:pPr>
            <a:r>
              <a:rPr sz="2200" b="0">
                <a:solidFill>
                  <a:srgbClr val="C7D4E0"/>
                </a:solidFill>
                <a:latin typeface="Calibri"/>
              </a:rPr>
              <a:t>From a European capacity-expansion plan to an operating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EMPIRE 2035 fleet  ·  Hydro cost-to-go  ·  Market chain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AEB9C4"/>
                </a:solidFill>
                <a:latin typeface="Calibri"/>
              </a:rPr>
              <a:t>A 4-node European expansion plan (ES · PT · FR · EU) sets the 2035 system;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AEB9C4"/>
                </a:solidFill>
                <a:latin typeface="Calibri"/>
              </a:rPr>
              <a:t>SDDP water values couple the hydro; the market chain clears it on the real 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8A98A6"/>
                </a:solidFill>
                <a:latin typeface="Calibri"/>
              </a:rPr>
              <a:t>Generated from results_plots_2035.ipynb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Three models, one chain — from plan to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22A33"/>
                </a:solidFill>
                <a:latin typeface="Calibri"/>
              </a:rPr>
              <a:t>To study 2035 we do not guess the future grid: we let a European planning model build it, value its hydro, then operate it hour-by-hour.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20440" cy="2542032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377440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1F5C8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EMPIRE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Capacity-expansion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4 nodes (ES·PT·FR·EU)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gives the 2035 fleet,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demand &amp; interconnectors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148840"/>
            <a:ext cx="3520440" cy="2542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62856" y="2377440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2395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2A9D8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081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SDDP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Hydro cost-to-go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9319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Water values for the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reservoirs across a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full 77-week horizon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2148840"/>
            <a:ext cx="3520440" cy="2542032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57032" y="2377440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2" y="2395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D65A2E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081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MARKET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520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Operate the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39319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Day-ahead → intraday →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balancing → AC OPF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redispatch on the real grid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10228" y="3273552"/>
            <a:ext cx="274320" cy="292608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804404" y="3273552"/>
            <a:ext cx="274320" cy="292608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D65A2E"/>
                </a:solidFill>
                <a:latin typeface="Calibri"/>
              </a:rPr>
              <a:t>•  </a:t>
            </a:r>
            <a:r>
              <a:rPr sz="1400" b="0">
                <a:solidFill>
                  <a:srgbClr val="222A33"/>
                </a:solidFill>
                <a:latin typeface="Calibri"/>
              </a:rPr>
              <a:t>The plan is not re-optimised for operation — the market chain tests whether the planned 2035 system can actually be dispatched on the existing transmission network.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D65A2E"/>
                </a:solidFill>
                <a:latin typeface="Calibri"/>
              </a:rPr>
              <a:t>•  </a:t>
            </a:r>
            <a:r>
              <a:rPr sz="1400" b="0">
                <a:solidFill>
                  <a:srgbClr val="222A33"/>
                </a:solidFill>
                <a:latin typeface="Calibri"/>
              </a:rPr>
              <a:t>Scenario shown: </a:t>
            </a:r>
            <a:r>
              <a:rPr sz="1400" b="1">
                <a:solidFill>
                  <a:srgbClr val="102A43"/>
                </a:solidFill>
                <a:latin typeface="Calibri"/>
              </a:rPr>
              <a:t>NECPEssentials</a:t>
            </a:r>
            <a:r>
              <a:rPr sz="1400" b="0">
                <a:solidFill>
                  <a:srgbClr val="222A33"/>
                </a:solidFill>
                <a:latin typeface="Calibri"/>
              </a:rPr>
              <a:t>  — a strongly renewable 2035 pathway with solar and wind dominating the added capacity.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STEP 1 · EMPIRE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A European plan sets the 2035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690372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•  Four-node capacity-expansion model</a:t>
            </a:r>
          </a:p>
          <a:p>
            <a:pPr algn="l">
              <a:spcBef>
                <a:spcPts val="0"/>
              </a:spcBef>
            </a:pPr>
            <a:r>
              <a:rPr sz="1350" b="0">
                <a:solidFill>
                  <a:srgbClr val="222A33"/>
                </a:solidFill>
                <a:latin typeface="Calibri"/>
              </a:rPr>
              <a:t>–  ES, PT, FR and an aggregate EU node, solved with OpenEMPIRE over the 2025→2040 horizon in five-year steps.</a:t>
            </a:r>
          </a:p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•  Spain in nodal detail</a:t>
            </a:r>
          </a:p>
          <a:p>
            <a:pPr algn="l">
              <a:spcBef>
                <a:spcPts val="0"/>
              </a:spcBef>
            </a:pPr>
            <a:r>
              <a:rPr sz="1350" b="0">
                <a:solidFill>
                  <a:srgbClr val="222A33"/>
                </a:solidFill>
                <a:latin typeface="Calibri"/>
              </a:rPr>
              <a:t>–  Spanish investments are resolved to the real grid; the rest of Europe stays zonal — enough to price the interconnectors.</a:t>
            </a:r>
          </a:p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•  What the plan hands over for 2035</a:t>
            </a:r>
          </a:p>
          <a:p>
            <a:pPr algn="l">
              <a:spcBef>
                <a:spcPts val="0"/>
              </a:spcBef>
            </a:pPr>
            <a:r>
              <a:rPr sz="1350" b="0">
                <a:solidFill>
                  <a:srgbClr val="222A33"/>
                </a:solidFill>
                <a:latin typeface="Calibri"/>
              </a:rPr>
              <a:t>–  Installed fleet by technology, demand, reservoir &amp; pumped-storage sizes, and cross-border NTCs (ES–FR, ES–PT, FR–EU).</a:t>
            </a:r>
          </a:p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•  A renewable-led picture</a:t>
            </a:r>
          </a:p>
          <a:p>
            <a:pPr algn="l">
              <a:spcBef>
                <a:spcPts val="0"/>
              </a:spcBef>
            </a:pPr>
            <a:r>
              <a:rPr sz="1350" b="0">
                <a:solidFill>
                  <a:srgbClr val="222A33"/>
                </a:solidFill>
                <a:latin typeface="Calibri"/>
              </a:rPr>
              <a:t>–  Solar and wind dominate the added capacity through 2035; thermal is flat-to-declining across Spain.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3886200" cy="4617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26679" y="1417320"/>
            <a:ext cx="388620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41732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2035 system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14884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Nodes modelled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9572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ES · PT · FR · 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9748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4436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NECPEssentials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4612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Spain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9300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full nodal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79476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Dominant new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04164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solar + wind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34340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Peak demand (ES)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59028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~55 GW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89204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Midday solar (ES)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38927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~59 GW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440679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5A6673"/>
                </a:solidFill>
                <a:latin typeface="Calibri"/>
              </a:rPr>
              <a:t>Interconnectors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687567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102A43"/>
                </a:solidFill>
                <a:latin typeface="Calibri"/>
              </a:rPr>
              <a:t>ES–FR · ES–PT · FR–EU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STEP 3 · MARKET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Zonal prices and cross-border flows</a:t>
            </a:r>
          </a:p>
        </p:txBody>
      </p:sp>
      <p:pic>
        <p:nvPicPr>
          <p:cNvPr id="6" name="Picture 5" descr="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3666"/>
            <a:ext cx="6720840" cy="28621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6928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A6673"/>
                </a:solidFill>
                <a:latin typeface="Calibri"/>
              </a:rPr>
              <a:t>Mean zonal marginal price and interconnector utilisation</a:t>
            </a:r>
          </a:p>
        </p:txBody>
      </p:sp>
      <p:pic>
        <p:nvPicPr>
          <p:cNvPr id="8" name="Picture 7" descr="pri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18234"/>
            <a:ext cx="4572000" cy="1947011"/>
          </a:xfrm>
          <a:prstGeom prst="rect">
            <a:avLst/>
          </a:prstGeom>
        </p:spPr>
      </p:pic>
      <p:pic>
        <p:nvPicPr>
          <p:cNvPr id="9" name="Picture 8" descr="pric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804234"/>
            <a:ext cx="4572000" cy="19470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56692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5A6673"/>
                </a:solidFill>
                <a:latin typeface="Calibri"/>
              </a:rPr>
              <a:t>Iberia sits below the EU node year-round; the gap widens in winter.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STEP 2 · HYDRO COST-TO-GO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Valuing the water before the market clears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222A33"/>
                </a:solidFill>
                <a:latin typeface="Calibri"/>
              </a:rPr>
              <a:t>A stochastic dual dynamic programming (SDDP) sweep over the year produces a </a:t>
            </a:r>
            <a:r>
              <a:rPr sz="1400" b="1">
                <a:solidFill>
                  <a:srgbClr val="102A43"/>
                </a:solidFill>
                <a:latin typeface="Calibri"/>
              </a:rPr>
              <a:t>cost-to-go</a:t>
            </a:r>
            <a:r>
              <a:rPr sz="1400" b="0">
                <a:solidFill>
                  <a:srgbClr val="222A33"/>
                </a:solidFill>
                <a:latin typeface="Calibri"/>
              </a:rPr>
              <a:t> for each reservoir — the marginal value of stored energy. The market chain then spends water only when it beats the thermal alternative.</a:t>
            </a:r>
          </a:p>
        </p:txBody>
      </p:sp>
      <p:pic>
        <p:nvPicPr>
          <p:cNvPr id="7" name="Picture 6" descr="new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30815"/>
            <a:ext cx="5532120" cy="2019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3212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A6673"/>
                </a:solidFill>
                <a:latin typeface="Calibri"/>
              </a:rPr>
              <a:t>ES water value across the horizon vs. simulated reservoir volume</a:t>
            </a:r>
          </a:p>
        </p:txBody>
      </p:sp>
      <p:pic>
        <p:nvPicPr>
          <p:cNvPr id="9" name="Picture 8" descr="W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57023"/>
            <a:ext cx="5532120" cy="1766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53212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A6673"/>
                </a:solidFill>
                <a:latin typeface="Calibri"/>
              </a:rPr>
              <a:t>Binding water value along the simulated trajectory (ES &amp; FR)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STEP 3 · MARKET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How the 2035 system is dispatched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222A33"/>
                </a:solidFill>
                <a:latin typeface="Calibri"/>
              </a:rPr>
              <a:t>The full chain clears the planned 2035 fleet on two representative days. Solar carries the summer midday; gas and imports firm up the winter evening.</a:t>
            </a:r>
          </a:p>
        </p:txBody>
      </p:sp>
      <p:pic>
        <p:nvPicPr>
          <p:cNvPr id="7" name="Picture 6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09" y="2011680"/>
            <a:ext cx="979710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A6673"/>
                </a:solidFill>
                <a:latin typeface="Calibri"/>
              </a:rPr>
              <a:t>Hourly generation mix after redispatch — summer (left) and winter (right)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D65A2E"/>
                </a:solidFill>
                <a:latin typeface="Calibri"/>
              </a:rPr>
              <a:t>STEP 3 · GRID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The 2035 fleet needs a reinforced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102A43"/>
                </a:solidFill>
                <a:latin typeface="Calibri"/>
              </a:rPr>
              <a:t>•  Markets clear — the grid does not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222A33"/>
                </a:solidFill>
                <a:latin typeface="Calibri"/>
              </a:rPr>
              <a:t>–  Day-ahead, intraday and balancing all solve, but the AC OPF redispatch is infeasible on the un-reinforced 2024 network.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02A43"/>
                </a:solidFill>
                <a:latin typeface="Calibri"/>
              </a:rPr>
              <a:t>•  A thermal bottleneck, not voltage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222A33"/>
                </a:solidFill>
                <a:latin typeface="Calibri"/>
              </a:rPr>
              <a:t>–  A scaled-up renewable fleet on today's corridors overloads specific lines; relaxing thermal limits restores full feasibility.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02A43"/>
                </a:solidFill>
                <a:latin typeface="Calibri"/>
              </a:rPr>
              <a:t>•  Targeted, not blanket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222A33"/>
                </a:solidFill>
                <a:latin typeface="Calibri"/>
              </a:rPr>
              <a:t>–  System needs ≈ 3× headroom on the worst corridor; only ~7 lines exceed 2× and ~54 exceed 1.5×.</a:t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D65A2E"/>
                </a:solidFill>
                <a:latin typeface="Calibri"/>
              </a:rPr>
              <a:t>•  The coupling insight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222A33"/>
                </a:solidFill>
                <a:latin typeface="Calibri"/>
              </a:rPr>
              <a:t>–  EMPIRE reinforces interconnectors but not intra-Spain lines — the operational chain reveals where the internal grid must grow.</a:t>
            </a:r>
          </a:p>
        </p:txBody>
      </p:sp>
      <p:pic>
        <p:nvPicPr>
          <p:cNvPr id="7" name="Picture 6" descr="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68835"/>
            <a:ext cx="5989320" cy="35946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571500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A6673"/>
                </a:solidFill>
                <a:latin typeface="Calibri"/>
              </a:rPr>
              <a:t>Intra-Spain reinforcement map — minimum line-rating factor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Spanish Power System 2035  ·  EMPIRE + Market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A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D65A2E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Calibri"/>
              </a:rPr>
              <a:t>What the 2035 case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53512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Plan → operation, end to end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B6C4D2"/>
                </a:solidFill>
                <a:latin typeface="Calibri"/>
              </a:rPr>
              <a:t>A European expansion plan can be handed to an operational market chain and run on the real grid.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13048"/>
            <a:ext cx="5029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813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947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Hydro is valued consistently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B6C4D2"/>
                </a:solidFill>
                <a:latin typeface="Calibri"/>
              </a:rPr>
              <a:t>SDDP cost-to-go links the yearly water problem to the hourly market, so reservoirs are spent optimally.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54296"/>
            <a:ext cx="5029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542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636008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Energy balances, the network binds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B6C4D2"/>
                </a:solidFill>
                <a:latin typeface="Calibri"/>
              </a:rPr>
              <a:t>The 2035 renewable fleet clears in the market but overloads the existing internal transmission grid.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95544"/>
            <a:ext cx="5029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495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477256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 targeted reinforcement signal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B6C4D2"/>
                </a:solidFill>
                <a:latin typeface="Calibri"/>
              </a:rPr>
              <a:t>Only a handful of Spanish corridors need substantial upgrades — the chain pinpoints which.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8A98A6"/>
                </a:solidFill>
                <a:latin typeface="Calibri"/>
              </a:rPr>
              <a:t>Spanish Power System 2035  ·  EMPIRE + Market 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Ehsan Nokandi</cp:lastModifiedBy>
  <cp:revision>2</cp:revision>
  <dcterms:created xsi:type="dcterms:W3CDTF">2013-01-27T09:14:16Z</dcterms:created>
  <dcterms:modified xsi:type="dcterms:W3CDTF">2026-07-07T22:00:59Z</dcterms:modified>
  <cp:category/>
</cp:coreProperties>
</file>